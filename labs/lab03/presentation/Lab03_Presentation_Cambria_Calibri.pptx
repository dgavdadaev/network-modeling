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Представляю лабораторную работу №3 по дисциплине «Моделирование сетей передачи данных». Мы исследовали работу Mininet и автоматизировали измерения iPerf3.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Здесь кратко изложу цель и последовательность практических действий.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Цель работы — освоить создание топологий через Python и автоматизацию измерений.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пять основных задач, которые я последовательно выполнил.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Я создал рабочий каталог и скопировал стандартный пример emptynet.py, чтобы изменить его под свою топологию.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Python API Mininet вручную создаются контроллер c0, два хоста h1 и h2, коммутатор s3 и их соединения.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После запуска скрипта Mininet создал все узлы и открыл командную оболочку для проверки сети.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Команды net, links и dump показывают состав сети; pingall подтвердил связность без потерь.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скрипт добавлена инструкция вывода IP- и MAC-адреса первого хоста.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Система вывела IP-адрес 10.0.0.1 и текущий MAC-адрес первого хоста.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Затем я добавил такой же вывод для второго хоста.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Адреса хостов — 10.0.0.1 и 10.0.0.2. MAC-адреса могут различаться при повторных запусках.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Для ограничения ресурсов импортированы CPULimitedHost и TCLink.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Теперь Mininet использует специальные классы хостов и каналов, поддерживающие программные ограничения.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Для h1 выставлен cpu=0.5, для h2 — cpu=0.45.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Для линии h1–s3 задано 10 Мбит/с, задержка 5 мс, вероятность потерь 10% и очередь 1000 пакетов.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 запуске эти ограничения отражаются в выводе Mininet.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Команды Linux tc подтверждают, что HTB и netem применили заданные параметры.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ограниченной сети 20 пакетов отправлено, 17 получено, потери 15%, средний RTT 187.525 мс.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Без ограничений 20 запросов получили 20 ответов, потерь нет, средний RTT 0.176 мс.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Для следующего этапа создан отдельный каталог и выделен Python-скрипт автоматического теста.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Здесь используется Mininet с TCLink, но без ограничений долей CPU хостов.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Оба канала настроены на 100 Мбит/с и 75 мс задержки, без заданных потерь.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После запуска сервера iPerf3 на h2 клиент с h1 сохраняет результат TCP-теста в 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Эксперимент выполняется без интерактивной оболочки; программа создаёт и затем останавливает сеть.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JSON прошёл синтаксическую проверку. В первом запуске получена скорость примерно 9.97 Мбит/с.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Скрипт построил семь PDF-графиков с дополнительным файлом данных 1.dat.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Этот график отражает, как скорость менялась в течение десятисекундного теста.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Окно перегрузки TCP росло по мере передачи данных.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 графике RTT видны колебания. Его числовую шкалу нельзя без проверки считать миллисекундами.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Makefile определены цели all, plot и clean для упрощения воспроизведения.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Команды make clean и make заново запустили тест и сформировали результаты.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Повторно получены корректный JSON и PDF. Скорость составила 35.62 Мбит/с — процедура воспроизводится, но измерения различаются.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обычной сети пинг прошёл без потерь, в ограниченной — с потерями 15%. Скорости TCP в двух запусках различались. Поэтому повторяемость последовательности действий подтверждена, но стабильность численного результата требует дополнительных измерений.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Главный результат — полностью автоматизированный рабочий эксперимент, который можно запустить повторно через make.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8096" y="1792224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altLang="en-US" sz="2340" b="1" dirty="0">
                <a:solidFill>
                  <a:srgbClr val="223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Моделирование сетей передачи данных</a:t>
            </a:r>
            <a:endParaRPr lang="ru-RU" sz="2340" dirty="0"/>
          </a:p>
        </p:txBody>
      </p:sp>
      <p:sp>
        <p:nvSpPr>
          <p:cNvPr id="3" name="Text 1"/>
          <p:cNvSpPr/>
          <p:nvPr/>
        </p:nvSpPr>
        <p:spPr>
          <a:xfrm>
            <a:off x="768096" y="2414016"/>
            <a:ext cx="10424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altLang="en-US" sz="2050" dirty="0">
                <a:solidFill>
                  <a:srgbClr val="5162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Лабораторная работа №3</a:t>
            </a:r>
            <a:endParaRPr lang="ru-RU" sz="2050" dirty="0"/>
          </a:p>
        </p:txBody>
      </p:sp>
      <p:sp>
        <p:nvSpPr>
          <p:cNvPr id="4" name="Shape 2"/>
          <p:cNvSpPr/>
          <p:nvPr/>
        </p:nvSpPr>
        <p:spPr>
          <a:xfrm>
            <a:off x="768096" y="3204972"/>
            <a:ext cx="10661904" cy="0"/>
          </a:xfrm>
          <a:prstGeom prst="line">
            <a:avLst/>
          </a:prstGeom>
          <a:noFill/>
          <a:ln w="13970">
            <a:solidFill>
              <a:srgbClr val="DE9B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3877056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altLang="en-US" sz="1690" dirty="0">
                <a:solidFill>
                  <a:srgbClr val="223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Авдадаев Джамал Геланиевич</a:t>
            </a:r>
            <a:endParaRPr lang="ru-RU" sz="1690" dirty="0"/>
          </a:p>
        </p:txBody>
      </p:sp>
      <p:sp>
        <p:nvSpPr>
          <p:cNvPr id="6" name="Text 4"/>
          <p:cNvSpPr/>
          <p:nvPr/>
        </p:nvSpPr>
        <p:spPr>
          <a:xfrm>
            <a:off x="768096" y="431596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altLang="en-US" sz="1690" dirty="0">
                <a:solidFill>
                  <a:srgbClr val="223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октября 2026</a:t>
            </a:r>
            <a:endParaRPr lang="ru-RU" sz="1690" dirty="0"/>
          </a:p>
        </p:txBody>
      </p:sp>
      <p:sp>
        <p:nvSpPr>
          <p:cNvPr id="7" name="Text 5"/>
          <p:cNvSpPr/>
          <p:nvPr/>
        </p:nvSpPr>
        <p:spPr>
          <a:xfrm>
            <a:off x="768096" y="4882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altLang="en-US" sz="1350" dirty="0">
                <a:solidFill>
                  <a:srgbClr val="5162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Российский университет дружбы народов, Москва, Россия</a:t>
            </a:r>
            <a:endParaRPr lang="ru-RU" sz="1350" dirty="0"/>
          </a:p>
        </p:txBody>
      </p:sp>
      <p:sp>
        <p:nvSpPr>
          <p:cNvPr id="9" name="Text 6"/>
          <p:cNvSpPr/>
          <p:nvPr/>
        </p:nvSpPr>
        <p:spPr>
          <a:xfrm>
            <a:off x="11402568" y="6510528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ru-RU" altLang="en-US" sz="1080" dirty="0">
                <a:solidFill>
                  <a:srgbClr val="5162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1/34</a:t>
            </a:r>
            <a:endParaRPr lang="ru-RU" sz="10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55848" y="2843784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altLang="en-US" sz="2340" dirty="0">
                <a:solidFill>
                  <a:srgbClr val="223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Цели и задачи работы</a:t>
            </a:r>
            <a:endParaRPr lang="ru-RU" sz="2340" dirty="0"/>
          </a:p>
        </p:txBody>
      </p:sp>
      <p:sp>
        <p:nvSpPr>
          <p:cNvPr id="3" name="Shape 1"/>
          <p:cNvSpPr/>
          <p:nvPr/>
        </p:nvSpPr>
        <p:spPr>
          <a:xfrm>
            <a:off x="3355848" y="3534156"/>
            <a:ext cx="5486400" cy="0"/>
          </a:xfrm>
          <a:prstGeom prst="line">
            <a:avLst/>
          </a:prstGeom>
          <a:noFill/>
          <a:ln w="7620">
            <a:solidFill>
              <a:srgbClr val="D7CC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355848" y="3534156"/>
            <a:ext cx="173736" cy="0"/>
          </a:xfrm>
          <a:prstGeom prst="line">
            <a:avLst/>
          </a:prstGeom>
          <a:noFill/>
          <a:ln w="13970">
            <a:solidFill>
              <a:srgbClr val="DE9B5F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66267"/>
          </a:xfrm>
          <a:prstGeom prst="rect">
            <a:avLst/>
          </a:prstGeom>
          <a:solidFill>
            <a:srgbClr val="22373A"/>
          </a:solidFill>
          <a:ln w="12700">
            <a:solidFill>
              <a:srgbClr val="2237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68096"/>
            <a:ext cx="1051560" cy="0"/>
          </a:xfrm>
          <a:prstGeom prst="line">
            <a:avLst/>
          </a:prstGeom>
          <a:noFill/>
          <a:ln w="14605">
            <a:solidFill>
              <a:srgbClr val="DE9B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" y="768096"/>
            <a:ext cx="11140440" cy="0"/>
          </a:xfrm>
          <a:prstGeom prst="line">
            <a:avLst/>
          </a:prstGeom>
          <a:noFill/>
          <a:ln w="5080">
            <a:solidFill>
              <a:srgbClr val="CCB9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83464" y="198425"/>
            <a:ext cx="11612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лабораторной работы</a:t>
            </a:r>
            <a:endParaRPr lang="ru-RU" sz="1950" dirty="0"/>
          </a:p>
        </p:txBody>
      </p:sp>
      <p:sp>
        <p:nvSpPr>
          <p:cNvPr id="6" name="Text 4"/>
          <p:cNvSpPr/>
          <p:nvPr/>
        </p:nvSpPr>
        <p:spPr>
          <a:xfrm>
            <a:off x="914400" y="2779776"/>
            <a:ext cx="10332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2020" dirty="0">
                <a:solidFill>
                  <a:srgbClr val="5162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Освоить Python API Mininet и организовать воспроизводимый эксперимент по измерению пропускной способности виртуальной сети с помощью iPerf3.</a:t>
            </a:r>
            <a:endParaRPr lang="ru-RU" sz="2020" dirty="0"/>
          </a:p>
        </p:txBody>
      </p:sp>
      <p:sp>
        <p:nvSpPr>
          <p:cNvPr id="8" name="Text 5"/>
          <p:cNvSpPr/>
          <p:nvPr/>
        </p:nvSpPr>
        <p:spPr>
          <a:xfrm>
            <a:off x="11402568" y="6510528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ru-RU" altLang="en-US" sz="1080" dirty="0">
                <a:solidFill>
                  <a:srgbClr val="5162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2/34</a:t>
            </a:r>
            <a:endParaRPr lang="ru-RU" sz="10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66267"/>
          </a:xfrm>
          <a:prstGeom prst="rect">
            <a:avLst/>
          </a:prstGeom>
          <a:solidFill>
            <a:srgbClr val="22373A"/>
          </a:solidFill>
          <a:ln w="12700">
            <a:solidFill>
              <a:srgbClr val="2237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68096"/>
            <a:ext cx="1051560" cy="0"/>
          </a:xfrm>
          <a:prstGeom prst="line">
            <a:avLst/>
          </a:prstGeom>
          <a:noFill/>
          <a:ln w="14605">
            <a:solidFill>
              <a:srgbClr val="DE9B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" y="768096"/>
            <a:ext cx="11140440" cy="0"/>
          </a:xfrm>
          <a:prstGeom prst="line">
            <a:avLst/>
          </a:prstGeom>
          <a:noFill/>
          <a:ln w="5080">
            <a:solidFill>
              <a:srgbClr val="CCB9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83464" y="198425"/>
            <a:ext cx="11612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 лабораторной работы</a:t>
            </a:r>
            <a:endParaRPr lang="ru-RU" sz="1950" dirty="0"/>
          </a:p>
        </p:txBody>
      </p:sp>
      <p:sp>
        <p:nvSpPr>
          <p:cNvPr id="6" name="Shape 4"/>
          <p:cNvSpPr/>
          <p:nvPr/>
        </p:nvSpPr>
        <p:spPr>
          <a:xfrm>
            <a:off x="932688" y="1538935"/>
            <a:ext cx="76810" cy="76810"/>
          </a:xfrm>
          <a:prstGeom prst="ellipse">
            <a:avLst/>
          </a:prstGeom>
          <a:solidFill>
            <a:srgbClr val="DE9B5F"/>
          </a:solidFill>
          <a:ln w="12700">
            <a:solidFill>
              <a:srgbClr val="DE9B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16152" y="1399032"/>
            <a:ext cx="98755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900" dirty="0">
                <a:solidFill>
                  <a:srgbClr val="223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Создать и проверить топологию h1 — s3 — h2</a:t>
            </a:r>
            <a:endParaRPr lang="ru-RU" sz="1900" dirty="0"/>
          </a:p>
        </p:txBody>
      </p:sp>
      <p:sp>
        <p:nvSpPr>
          <p:cNvPr id="8" name="Shape 6"/>
          <p:cNvSpPr/>
          <p:nvPr/>
        </p:nvSpPr>
        <p:spPr>
          <a:xfrm>
            <a:off x="932688" y="2233879"/>
            <a:ext cx="76810" cy="76810"/>
          </a:xfrm>
          <a:prstGeom prst="ellipse">
            <a:avLst/>
          </a:prstGeom>
          <a:solidFill>
            <a:srgbClr val="DE9B5F"/>
          </a:solidFill>
          <a:ln w="12700">
            <a:solidFill>
              <a:srgbClr val="DE9B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16152" y="2093976"/>
            <a:ext cx="98755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900" dirty="0">
                <a:solidFill>
                  <a:srgbClr val="223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Настроить ограничения ресурсов и канала</a:t>
            </a:r>
            <a:endParaRPr lang="ru-RU" sz="1900" dirty="0"/>
          </a:p>
        </p:txBody>
      </p:sp>
      <p:sp>
        <p:nvSpPr>
          <p:cNvPr id="10" name="Shape 8"/>
          <p:cNvSpPr/>
          <p:nvPr/>
        </p:nvSpPr>
        <p:spPr>
          <a:xfrm>
            <a:off x="932688" y="2928823"/>
            <a:ext cx="76810" cy="76810"/>
          </a:xfrm>
          <a:prstGeom prst="ellipse">
            <a:avLst/>
          </a:prstGeom>
          <a:solidFill>
            <a:srgbClr val="DE9B5F"/>
          </a:solidFill>
          <a:ln w="12700">
            <a:solidFill>
              <a:srgbClr val="DE9B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16152" y="2788920"/>
            <a:ext cx="98755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900" dirty="0">
                <a:solidFill>
                  <a:srgbClr val="223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Сравнить ICMP-показатели двух топологий</a:t>
            </a:r>
            <a:endParaRPr lang="ru-RU" sz="1900" dirty="0"/>
          </a:p>
        </p:txBody>
      </p:sp>
      <p:sp>
        <p:nvSpPr>
          <p:cNvPr id="12" name="Shape 10"/>
          <p:cNvSpPr/>
          <p:nvPr/>
        </p:nvSpPr>
        <p:spPr>
          <a:xfrm>
            <a:off x="932688" y="3623767"/>
            <a:ext cx="76810" cy="76810"/>
          </a:xfrm>
          <a:prstGeom prst="ellipse">
            <a:avLst/>
          </a:prstGeom>
          <a:solidFill>
            <a:srgbClr val="DE9B5F"/>
          </a:solidFill>
          <a:ln w="12700">
            <a:solidFill>
              <a:srgbClr val="DE9B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16152" y="3483864"/>
            <a:ext cx="98755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900" dirty="0">
                <a:solidFill>
                  <a:srgbClr val="223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Запустить iPerf3 и сохранить результаты в JSON</a:t>
            </a:r>
            <a:endParaRPr lang="ru-RU" sz="1900" dirty="0"/>
          </a:p>
        </p:txBody>
      </p:sp>
      <p:sp>
        <p:nvSpPr>
          <p:cNvPr id="14" name="Shape 12"/>
          <p:cNvSpPr/>
          <p:nvPr/>
        </p:nvSpPr>
        <p:spPr>
          <a:xfrm>
            <a:off x="932688" y="4318711"/>
            <a:ext cx="76810" cy="76810"/>
          </a:xfrm>
          <a:prstGeom prst="ellipse">
            <a:avLst/>
          </a:prstGeom>
          <a:solidFill>
            <a:srgbClr val="DE9B5F"/>
          </a:solidFill>
          <a:ln w="12700">
            <a:solidFill>
              <a:srgbClr val="DE9B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16152" y="4178808"/>
            <a:ext cx="98755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900" dirty="0">
                <a:solidFill>
                  <a:srgbClr val="223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Построить графики и автоматизировать повторный запуск</a:t>
            </a:r>
            <a:endParaRPr lang="ru-RU" sz="1900" dirty="0"/>
          </a:p>
        </p:txBody>
      </p:sp>
      <p:sp>
        <p:nvSpPr>
          <p:cNvPr id="17" name="Text 14"/>
          <p:cNvSpPr/>
          <p:nvPr/>
        </p:nvSpPr>
        <p:spPr>
          <a:xfrm>
            <a:off x="11402568" y="6510528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ru-RU" altLang="en-US" sz="1080" dirty="0">
                <a:solidFill>
                  <a:srgbClr val="5162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3/34</a:t>
            </a:r>
            <a:endParaRPr lang="ru-RU" sz="10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55848" y="2843784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altLang="en-US" sz="2340" dirty="0">
                <a:solidFill>
                  <a:srgbClr val="223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Ход выполнения работы</a:t>
            </a:r>
            <a:endParaRPr lang="ru-RU" sz="2340" dirty="0"/>
          </a:p>
        </p:txBody>
      </p:sp>
      <p:sp>
        <p:nvSpPr>
          <p:cNvPr id="3" name="Shape 1"/>
          <p:cNvSpPr/>
          <p:nvPr/>
        </p:nvSpPr>
        <p:spPr>
          <a:xfrm>
            <a:off x="3355848" y="3534156"/>
            <a:ext cx="5486400" cy="0"/>
          </a:xfrm>
          <a:prstGeom prst="line">
            <a:avLst/>
          </a:prstGeom>
          <a:noFill/>
          <a:ln w="7620">
            <a:solidFill>
              <a:srgbClr val="D7CC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355848" y="3534156"/>
            <a:ext cx="173736" cy="0"/>
          </a:xfrm>
          <a:prstGeom prst="line">
            <a:avLst/>
          </a:prstGeom>
          <a:noFill/>
          <a:ln w="13970">
            <a:solidFill>
              <a:srgbClr val="DE9B5F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66267"/>
          </a:xfrm>
          <a:prstGeom prst="rect">
            <a:avLst/>
          </a:prstGeom>
          <a:solidFill>
            <a:srgbClr val="22373A"/>
          </a:solidFill>
          <a:ln w="12700">
            <a:solidFill>
              <a:srgbClr val="2237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68096"/>
            <a:ext cx="1051560" cy="0"/>
          </a:xfrm>
          <a:prstGeom prst="line">
            <a:avLst/>
          </a:prstGeom>
          <a:noFill/>
          <a:ln w="14605">
            <a:solidFill>
              <a:srgbClr val="DE9B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" y="768096"/>
            <a:ext cx="11140440" cy="0"/>
          </a:xfrm>
          <a:prstGeom prst="line">
            <a:avLst/>
          </a:prstGeom>
          <a:noFill/>
          <a:ln w="5080">
            <a:solidFill>
              <a:srgbClr val="CCB9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83464" y="198425"/>
            <a:ext cx="11612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Подготовка топологии Mininet</a:t>
            </a:r>
            <a:endParaRPr lang="ru-RU" sz="1950" dirty="0"/>
          </a:p>
        </p:txBody>
      </p:sp>
      <p:pic>
        <p:nvPicPr>
          <p:cNvPr id="6" name="Image 0" descr="/mnt/data/lab03_presentation_v2/assets/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0918" y="914400"/>
            <a:ext cx="7870165" cy="52760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0976" y="6286500"/>
            <a:ext cx="1030528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1430" dirty="0">
                <a:solidFill>
                  <a:srgbClr val="223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Рис. 1: Подготовка рабочей папки и копирование emptynet.py</a:t>
            </a:r>
            <a:endParaRPr lang="ru-RU" sz="1430" dirty="0"/>
          </a:p>
        </p:txBody>
      </p:sp>
      <p:sp>
        <p:nvSpPr>
          <p:cNvPr id="9" name="Text 5"/>
          <p:cNvSpPr/>
          <p:nvPr/>
        </p:nvSpPr>
        <p:spPr>
          <a:xfrm>
            <a:off x="11402568" y="6510528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ru-RU" altLang="en-US" sz="1080" dirty="0">
                <a:solidFill>
                  <a:srgbClr val="5162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4/34</a:t>
            </a:r>
            <a:endParaRPr lang="ru-RU" sz="10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66267"/>
          </a:xfrm>
          <a:prstGeom prst="rect">
            <a:avLst/>
          </a:prstGeom>
          <a:solidFill>
            <a:srgbClr val="22373A"/>
          </a:solidFill>
          <a:ln w="12700">
            <a:solidFill>
              <a:srgbClr val="2237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68096"/>
            <a:ext cx="1051560" cy="0"/>
          </a:xfrm>
          <a:prstGeom prst="line">
            <a:avLst/>
          </a:prstGeom>
          <a:noFill/>
          <a:ln w="14605">
            <a:solidFill>
              <a:srgbClr val="DE9B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" y="768096"/>
            <a:ext cx="11140440" cy="0"/>
          </a:xfrm>
          <a:prstGeom prst="line">
            <a:avLst/>
          </a:prstGeom>
          <a:noFill/>
          <a:ln w="5080">
            <a:solidFill>
              <a:srgbClr val="CCB9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83464" y="198425"/>
            <a:ext cx="11612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 топологии с помощью Python</a:t>
            </a:r>
            <a:endParaRPr lang="ru-RU" sz="1950" dirty="0"/>
          </a:p>
        </p:txBody>
      </p:sp>
      <p:pic>
        <p:nvPicPr>
          <p:cNvPr id="6" name="Image 0" descr="/mnt/data/lab03_presentation_v2/assets/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8481" y="914400"/>
            <a:ext cx="9835038" cy="52760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0976" y="6286500"/>
            <a:ext cx="1030528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1430" dirty="0">
                <a:solidFill>
                  <a:srgbClr val="223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Рис. 2: Исходный скрипт создания сети</a:t>
            </a:r>
            <a:endParaRPr lang="ru-RU" sz="1430" dirty="0"/>
          </a:p>
        </p:txBody>
      </p:sp>
      <p:sp>
        <p:nvSpPr>
          <p:cNvPr id="9" name="Text 5"/>
          <p:cNvSpPr/>
          <p:nvPr/>
        </p:nvSpPr>
        <p:spPr>
          <a:xfrm>
            <a:off x="11402568" y="6510528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ru-RU" altLang="en-US" sz="1080" dirty="0">
                <a:solidFill>
                  <a:srgbClr val="5162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5/34</a:t>
            </a:r>
            <a:endParaRPr lang="ru-RU" sz="10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66267"/>
          </a:xfrm>
          <a:prstGeom prst="rect">
            <a:avLst/>
          </a:prstGeom>
          <a:solidFill>
            <a:srgbClr val="22373A"/>
          </a:solidFill>
          <a:ln w="12700">
            <a:solidFill>
              <a:srgbClr val="2237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68096"/>
            <a:ext cx="1051560" cy="0"/>
          </a:xfrm>
          <a:prstGeom prst="line">
            <a:avLst/>
          </a:prstGeom>
          <a:noFill/>
          <a:ln w="14605">
            <a:solidFill>
              <a:srgbClr val="DE9B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" y="768096"/>
            <a:ext cx="11140440" cy="0"/>
          </a:xfrm>
          <a:prstGeom prst="line">
            <a:avLst/>
          </a:prstGeom>
          <a:noFill/>
          <a:ln w="5080">
            <a:solidFill>
              <a:srgbClr val="CCB9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83464" y="198425"/>
            <a:ext cx="11612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 исходной топологии</a:t>
            </a:r>
            <a:endParaRPr lang="ru-RU" sz="1950" dirty="0"/>
          </a:p>
        </p:txBody>
      </p:sp>
      <p:pic>
        <p:nvPicPr>
          <p:cNvPr id="6" name="Image 0" descr="/mnt/data/lab03_presentation_v2/assets/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780" y="1513400"/>
            <a:ext cx="10378440" cy="407808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0976" y="6286500"/>
            <a:ext cx="1030528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1430" dirty="0">
                <a:solidFill>
                  <a:srgbClr val="223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Рис. 3: Запуск исходной топологии через Python API</a:t>
            </a:r>
            <a:endParaRPr lang="ru-RU" sz="1430" dirty="0"/>
          </a:p>
        </p:txBody>
      </p:sp>
      <p:sp>
        <p:nvSpPr>
          <p:cNvPr id="9" name="Text 5"/>
          <p:cNvSpPr/>
          <p:nvPr/>
        </p:nvSpPr>
        <p:spPr>
          <a:xfrm>
            <a:off x="11402568" y="6510528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ru-RU" altLang="en-US" sz="1080" dirty="0">
                <a:solidFill>
                  <a:srgbClr val="5162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6/34</a:t>
            </a:r>
            <a:endParaRPr lang="ru-RU" sz="10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66267"/>
          </a:xfrm>
          <a:prstGeom prst="rect">
            <a:avLst/>
          </a:prstGeom>
          <a:solidFill>
            <a:srgbClr val="22373A"/>
          </a:solidFill>
          <a:ln w="12700">
            <a:solidFill>
              <a:srgbClr val="2237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68096"/>
            <a:ext cx="1051560" cy="0"/>
          </a:xfrm>
          <a:prstGeom prst="line">
            <a:avLst/>
          </a:prstGeom>
          <a:noFill/>
          <a:ln w="14605">
            <a:solidFill>
              <a:srgbClr val="DE9B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" y="768096"/>
            <a:ext cx="11140440" cy="0"/>
          </a:xfrm>
          <a:prstGeom prst="line">
            <a:avLst/>
          </a:prstGeom>
          <a:noFill/>
          <a:ln w="5080">
            <a:solidFill>
              <a:srgbClr val="CCB9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83464" y="198425"/>
            <a:ext cx="11612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связности хостов</a:t>
            </a:r>
            <a:endParaRPr lang="ru-RU" sz="1950" dirty="0"/>
          </a:p>
        </p:txBody>
      </p:sp>
      <p:pic>
        <p:nvPicPr>
          <p:cNvPr id="6" name="Image 0" descr="/mnt/data/lab03_presentation_v2/assets/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780" y="1023354"/>
            <a:ext cx="10378440" cy="505817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0976" y="6286500"/>
            <a:ext cx="1030528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1430" dirty="0">
                <a:solidFill>
                  <a:srgbClr val="223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Рис. 4: Проверка связности и состава сети</a:t>
            </a:r>
            <a:endParaRPr lang="ru-RU" sz="1430" dirty="0"/>
          </a:p>
        </p:txBody>
      </p:sp>
      <p:sp>
        <p:nvSpPr>
          <p:cNvPr id="9" name="Text 5"/>
          <p:cNvSpPr/>
          <p:nvPr/>
        </p:nvSpPr>
        <p:spPr>
          <a:xfrm>
            <a:off x="11402568" y="6510528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ru-RU" altLang="en-US" sz="1080" dirty="0">
                <a:solidFill>
                  <a:srgbClr val="5162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7/34</a:t>
            </a:r>
            <a:endParaRPr lang="ru-RU" sz="10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66267"/>
          </a:xfrm>
          <a:prstGeom prst="rect">
            <a:avLst/>
          </a:prstGeom>
          <a:solidFill>
            <a:srgbClr val="22373A"/>
          </a:solidFill>
          <a:ln w="12700">
            <a:solidFill>
              <a:srgbClr val="2237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68096"/>
            <a:ext cx="1051560" cy="0"/>
          </a:xfrm>
          <a:prstGeom prst="line">
            <a:avLst/>
          </a:prstGeom>
          <a:noFill/>
          <a:ln w="14605">
            <a:solidFill>
              <a:srgbClr val="DE9B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" y="768096"/>
            <a:ext cx="11140440" cy="0"/>
          </a:xfrm>
          <a:prstGeom prst="line">
            <a:avLst/>
          </a:prstGeom>
          <a:noFill/>
          <a:ln w="5080">
            <a:solidFill>
              <a:srgbClr val="CCB9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83464" y="198425"/>
            <a:ext cx="11612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Получение адресных параметров h1</a:t>
            </a:r>
            <a:endParaRPr lang="ru-RU" sz="1950" dirty="0"/>
          </a:p>
        </p:txBody>
      </p:sp>
      <p:pic>
        <p:nvPicPr>
          <p:cNvPr id="6" name="Image 0" descr="/mnt/data/lab03_presentation_v2/assets/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7465" y="914400"/>
            <a:ext cx="7857069" cy="52760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0976" y="6286500"/>
            <a:ext cx="1030528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1430" dirty="0">
                <a:solidFill>
                  <a:srgbClr val="223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Рис. 5: Добавление вывода параметров хоста h1</a:t>
            </a:r>
            <a:endParaRPr lang="ru-RU" sz="1430" dirty="0"/>
          </a:p>
        </p:txBody>
      </p:sp>
      <p:sp>
        <p:nvSpPr>
          <p:cNvPr id="9" name="Text 5"/>
          <p:cNvSpPr/>
          <p:nvPr/>
        </p:nvSpPr>
        <p:spPr>
          <a:xfrm>
            <a:off x="11402568" y="6510528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ru-RU" altLang="en-US" sz="1080" dirty="0">
                <a:solidFill>
                  <a:srgbClr val="5162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8/34</a:t>
            </a:r>
            <a:endParaRPr lang="ru-RU" sz="10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66267"/>
          </a:xfrm>
          <a:prstGeom prst="rect">
            <a:avLst/>
          </a:prstGeom>
          <a:solidFill>
            <a:srgbClr val="22373A"/>
          </a:solidFill>
          <a:ln w="12700">
            <a:solidFill>
              <a:srgbClr val="2237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68096"/>
            <a:ext cx="1051560" cy="0"/>
          </a:xfrm>
          <a:prstGeom prst="line">
            <a:avLst/>
          </a:prstGeom>
          <a:noFill/>
          <a:ln w="14605">
            <a:solidFill>
              <a:srgbClr val="DE9B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" y="768096"/>
            <a:ext cx="11140440" cy="0"/>
          </a:xfrm>
          <a:prstGeom prst="line">
            <a:avLst/>
          </a:prstGeom>
          <a:noFill/>
          <a:ln w="5080">
            <a:solidFill>
              <a:srgbClr val="CCB9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83464" y="198425"/>
            <a:ext cx="11612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 IP- и MAC-адреса хоста h1</a:t>
            </a:r>
            <a:endParaRPr lang="ru-RU" sz="1950" dirty="0"/>
          </a:p>
        </p:txBody>
      </p:sp>
      <p:pic>
        <p:nvPicPr>
          <p:cNvPr id="6" name="Image 0" descr="/mnt/data/lab03_presentation_v2/assets/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780" y="1379795"/>
            <a:ext cx="10378440" cy="434529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0976" y="6286500"/>
            <a:ext cx="1030528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1430" dirty="0">
                <a:solidFill>
                  <a:srgbClr val="223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Рис. 6: Вывод IP- и MAC-адреса h1</a:t>
            </a:r>
            <a:endParaRPr lang="ru-RU" sz="1430" dirty="0"/>
          </a:p>
        </p:txBody>
      </p:sp>
      <p:sp>
        <p:nvSpPr>
          <p:cNvPr id="9" name="Text 5"/>
          <p:cNvSpPr/>
          <p:nvPr/>
        </p:nvSpPr>
        <p:spPr>
          <a:xfrm>
            <a:off x="11402568" y="6510528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ru-RU" altLang="en-US" sz="1080" dirty="0">
                <a:solidFill>
                  <a:srgbClr val="5162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9/34</a:t>
            </a:r>
            <a:endParaRPr lang="ru-RU" sz="10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66267"/>
          </a:xfrm>
          <a:prstGeom prst="rect">
            <a:avLst/>
          </a:prstGeom>
          <a:solidFill>
            <a:srgbClr val="22373A"/>
          </a:solidFill>
          <a:ln w="12700">
            <a:solidFill>
              <a:srgbClr val="2237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68096"/>
            <a:ext cx="1051560" cy="0"/>
          </a:xfrm>
          <a:prstGeom prst="line">
            <a:avLst/>
          </a:prstGeom>
          <a:noFill/>
          <a:ln w="14605">
            <a:solidFill>
              <a:srgbClr val="DE9B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" y="768096"/>
            <a:ext cx="11140440" cy="0"/>
          </a:xfrm>
          <a:prstGeom prst="line">
            <a:avLst/>
          </a:prstGeom>
          <a:noFill/>
          <a:ln w="5080">
            <a:solidFill>
              <a:srgbClr val="CCB9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83464" y="198425"/>
            <a:ext cx="11612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Добавление вывода адресов h2</a:t>
            </a:r>
            <a:endParaRPr lang="ru-RU" sz="1950" dirty="0"/>
          </a:p>
        </p:txBody>
      </p:sp>
      <p:pic>
        <p:nvPicPr>
          <p:cNvPr id="6" name="Image 0" descr="/mnt/data/lab03_presentation_v2/assets/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7465" y="914400"/>
            <a:ext cx="7857069" cy="52760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0976" y="6286500"/>
            <a:ext cx="1030528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1430" dirty="0">
                <a:solidFill>
                  <a:srgbClr val="223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Рис. 7: Добавление вывода параметров второго хоста</a:t>
            </a:r>
            <a:endParaRPr lang="ru-RU" sz="1430" dirty="0"/>
          </a:p>
        </p:txBody>
      </p:sp>
      <p:sp>
        <p:nvSpPr>
          <p:cNvPr id="9" name="Text 5"/>
          <p:cNvSpPr/>
          <p:nvPr/>
        </p:nvSpPr>
        <p:spPr>
          <a:xfrm>
            <a:off x="11402568" y="6510528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ru-RU" altLang="en-US" sz="1080" dirty="0">
                <a:solidFill>
                  <a:srgbClr val="5162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10/34</a:t>
            </a:r>
            <a:endParaRPr lang="ru-RU" sz="10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66267"/>
          </a:xfrm>
          <a:prstGeom prst="rect">
            <a:avLst/>
          </a:prstGeom>
          <a:solidFill>
            <a:srgbClr val="22373A"/>
          </a:solidFill>
          <a:ln w="12700">
            <a:solidFill>
              <a:srgbClr val="2237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68096"/>
            <a:ext cx="1051560" cy="0"/>
          </a:xfrm>
          <a:prstGeom prst="line">
            <a:avLst/>
          </a:prstGeom>
          <a:noFill/>
          <a:ln w="14605">
            <a:solidFill>
              <a:srgbClr val="DE9B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" y="768096"/>
            <a:ext cx="11140440" cy="0"/>
          </a:xfrm>
          <a:prstGeom prst="line">
            <a:avLst/>
          </a:prstGeom>
          <a:noFill/>
          <a:ln w="5080">
            <a:solidFill>
              <a:srgbClr val="CCB9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83464" y="198425"/>
            <a:ext cx="11612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Получение адресов обоих хостов</a:t>
            </a:r>
            <a:endParaRPr lang="ru-RU" sz="1950" dirty="0"/>
          </a:p>
        </p:txBody>
      </p:sp>
      <p:pic>
        <p:nvPicPr>
          <p:cNvPr id="6" name="Image 0" descr="/mnt/data/lab03_presentation_v2/assets/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7465" y="914400"/>
            <a:ext cx="7857069" cy="52760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0976" y="6286500"/>
            <a:ext cx="1030528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1430" dirty="0">
                <a:solidFill>
                  <a:srgbClr val="223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Рис. 8: Результаты получения адресов обоих хостов</a:t>
            </a:r>
            <a:endParaRPr lang="ru-RU" sz="1430" dirty="0"/>
          </a:p>
        </p:txBody>
      </p:sp>
      <p:sp>
        <p:nvSpPr>
          <p:cNvPr id="9" name="Text 5"/>
          <p:cNvSpPr/>
          <p:nvPr/>
        </p:nvSpPr>
        <p:spPr>
          <a:xfrm>
            <a:off x="11402568" y="6510528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ru-RU" altLang="en-US" sz="1080" dirty="0">
                <a:solidFill>
                  <a:srgbClr val="5162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11/34</a:t>
            </a:r>
            <a:endParaRPr lang="ru-RU" sz="10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55848" y="2843784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altLang="en-US" sz="2340" dirty="0">
                <a:solidFill>
                  <a:srgbClr val="223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Моделирование ограничений</a:t>
            </a:r>
            <a:endParaRPr lang="ru-RU" sz="2340" dirty="0"/>
          </a:p>
        </p:txBody>
      </p:sp>
      <p:sp>
        <p:nvSpPr>
          <p:cNvPr id="3" name="Shape 1"/>
          <p:cNvSpPr/>
          <p:nvPr/>
        </p:nvSpPr>
        <p:spPr>
          <a:xfrm>
            <a:off x="3355848" y="3534156"/>
            <a:ext cx="5486400" cy="0"/>
          </a:xfrm>
          <a:prstGeom prst="line">
            <a:avLst/>
          </a:prstGeom>
          <a:noFill/>
          <a:ln w="7620">
            <a:solidFill>
              <a:srgbClr val="D7CC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355848" y="3534156"/>
            <a:ext cx="173736" cy="0"/>
          </a:xfrm>
          <a:prstGeom prst="line">
            <a:avLst/>
          </a:prstGeom>
          <a:noFill/>
          <a:ln w="13970">
            <a:solidFill>
              <a:srgbClr val="DE9B5F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66267"/>
          </a:xfrm>
          <a:prstGeom prst="rect">
            <a:avLst/>
          </a:prstGeom>
          <a:solidFill>
            <a:srgbClr val="22373A"/>
          </a:solidFill>
          <a:ln w="12700">
            <a:solidFill>
              <a:srgbClr val="2237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68096"/>
            <a:ext cx="1051560" cy="0"/>
          </a:xfrm>
          <a:prstGeom prst="line">
            <a:avLst/>
          </a:prstGeom>
          <a:noFill/>
          <a:ln w="14605">
            <a:solidFill>
              <a:srgbClr val="DE9B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" y="768096"/>
            <a:ext cx="11140440" cy="0"/>
          </a:xfrm>
          <a:prstGeom prst="line">
            <a:avLst/>
          </a:prstGeom>
          <a:noFill/>
          <a:ln w="5080">
            <a:solidFill>
              <a:srgbClr val="CCB9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83464" y="198425"/>
            <a:ext cx="11612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Импорт CPULimitedHost и TCLink</a:t>
            </a:r>
            <a:endParaRPr lang="ru-RU" sz="1950" dirty="0"/>
          </a:p>
        </p:txBody>
      </p:sp>
      <p:pic>
        <p:nvPicPr>
          <p:cNvPr id="6" name="Image 0" descr="/mnt/data/lab03_presentation_v2/assets/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7465" y="914400"/>
            <a:ext cx="7857069" cy="52760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0976" y="6286500"/>
            <a:ext cx="1030528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1430" dirty="0">
                <a:solidFill>
                  <a:srgbClr val="223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Рис. 9: Подключение классов CPULimitedHost и TCLink</a:t>
            </a:r>
            <a:endParaRPr lang="ru-RU" sz="1430" dirty="0"/>
          </a:p>
        </p:txBody>
      </p:sp>
      <p:sp>
        <p:nvSpPr>
          <p:cNvPr id="9" name="Text 5"/>
          <p:cNvSpPr/>
          <p:nvPr/>
        </p:nvSpPr>
        <p:spPr>
          <a:xfrm>
            <a:off x="11402568" y="6510528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ru-RU" altLang="en-US" sz="1080" dirty="0">
                <a:solidFill>
                  <a:srgbClr val="5162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12/34</a:t>
            </a:r>
            <a:endParaRPr lang="ru-RU" sz="108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66267"/>
          </a:xfrm>
          <a:prstGeom prst="rect">
            <a:avLst/>
          </a:prstGeom>
          <a:solidFill>
            <a:srgbClr val="22373A"/>
          </a:solidFill>
          <a:ln w="12700">
            <a:solidFill>
              <a:srgbClr val="2237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68096"/>
            <a:ext cx="1051560" cy="0"/>
          </a:xfrm>
          <a:prstGeom prst="line">
            <a:avLst/>
          </a:prstGeom>
          <a:noFill/>
          <a:ln w="14605">
            <a:solidFill>
              <a:srgbClr val="DE9B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" y="768096"/>
            <a:ext cx="11140440" cy="0"/>
          </a:xfrm>
          <a:prstGeom prst="line">
            <a:avLst/>
          </a:prstGeom>
          <a:noFill/>
          <a:ln w="5080">
            <a:solidFill>
              <a:srgbClr val="CCB9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83464" y="198425"/>
            <a:ext cx="11612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Настройка ограничиваемых узлов и линий</a:t>
            </a:r>
            <a:endParaRPr lang="ru-RU" sz="1950" dirty="0"/>
          </a:p>
        </p:txBody>
      </p:sp>
      <p:pic>
        <p:nvPicPr>
          <p:cNvPr id="6" name="Image 0" descr="/mnt/data/lab03_presentation_v2/assets/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7465" y="914400"/>
            <a:ext cx="7857069" cy="52760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0976" y="6286500"/>
            <a:ext cx="1030528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1430" dirty="0">
                <a:solidFill>
                  <a:srgbClr val="223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Рис. 10: Настройка классов узлов и соединений Mininet</a:t>
            </a:r>
            <a:endParaRPr lang="ru-RU" sz="1430" dirty="0"/>
          </a:p>
        </p:txBody>
      </p:sp>
      <p:sp>
        <p:nvSpPr>
          <p:cNvPr id="9" name="Text 5"/>
          <p:cNvSpPr/>
          <p:nvPr/>
        </p:nvSpPr>
        <p:spPr>
          <a:xfrm>
            <a:off x="11402568" y="6510528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ru-RU" altLang="en-US" sz="1080" dirty="0">
                <a:solidFill>
                  <a:srgbClr val="5162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13/34</a:t>
            </a:r>
            <a:endParaRPr lang="ru-RU" sz="10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66267"/>
          </a:xfrm>
          <a:prstGeom prst="rect">
            <a:avLst/>
          </a:prstGeom>
          <a:solidFill>
            <a:srgbClr val="22373A"/>
          </a:solidFill>
          <a:ln w="12700">
            <a:solidFill>
              <a:srgbClr val="2237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68096"/>
            <a:ext cx="1051560" cy="0"/>
          </a:xfrm>
          <a:prstGeom prst="line">
            <a:avLst/>
          </a:prstGeom>
          <a:noFill/>
          <a:ln w="14605">
            <a:solidFill>
              <a:srgbClr val="DE9B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" y="768096"/>
            <a:ext cx="11140440" cy="0"/>
          </a:xfrm>
          <a:prstGeom prst="line">
            <a:avLst/>
          </a:prstGeom>
          <a:noFill/>
          <a:ln w="5080">
            <a:solidFill>
              <a:srgbClr val="CCB9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83464" y="198425"/>
            <a:ext cx="11612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Ограничение процессорных ресурсов</a:t>
            </a:r>
            <a:endParaRPr lang="ru-RU" sz="1950" dirty="0"/>
          </a:p>
        </p:txBody>
      </p:sp>
      <p:pic>
        <p:nvPicPr>
          <p:cNvPr id="6" name="Image 0" descr="/mnt/data/lab03_presentation_v2/assets/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7465" y="914400"/>
            <a:ext cx="7857069" cy="52760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0976" y="6286500"/>
            <a:ext cx="1030528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1430" dirty="0">
                <a:solidFill>
                  <a:srgbClr val="223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Рис. 11: Назначение ограничений CPU хостам</a:t>
            </a:r>
            <a:endParaRPr lang="ru-RU" sz="1430" dirty="0"/>
          </a:p>
        </p:txBody>
      </p:sp>
      <p:sp>
        <p:nvSpPr>
          <p:cNvPr id="9" name="Text 5"/>
          <p:cNvSpPr/>
          <p:nvPr/>
        </p:nvSpPr>
        <p:spPr>
          <a:xfrm>
            <a:off x="11402568" y="6510528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ru-RU" altLang="en-US" sz="1080" dirty="0">
                <a:solidFill>
                  <a:srgbClr val="5162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14/34</a:t>
            </a:r>
            <a:endParaRPr lang="ru-RU" sz="108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66267"/>
          </a:xfrm>
          <a:prstGeom prst="rect">
            <a:avLst/>
          </a:prstGeom>
          <a:solidFill>
            <a:srgbClr val="22373A"/>
          </a:solidFill>
          <a:ln w="12700">
            <a:solidFill>
              <a:srgbClr val="2237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68096"/>
            <a:ext cx="1051560" cy="0"/>
          </a:xfrm>
          <a:prstGeom prst="line">
            <a:avLst/>
          </a:prstGeom>
          <a:noFill/>
          <a:ln w="14605">
            <a:solidFill>
              <a:srgbClr val="DE9B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" y="768096"/>
            <a:ext cx="11140440" cy="0"/>
          </a:xfrm>
          <a:prstGeom prst="line">
            <a:avLst/>
          </a:prstGeom>
          <a:noFill/>
          <a:ln w="5080">
            <a:solidFill>
              <a:srgbClr val="CCB9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83464" y="198425"/>
            <a:ext cx="11612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Настройка характеристик канала</a:t>
            </a:r>
            <a:endParaRPr lang="ru-RU" sz="1950" dirty="0"/>
          </a:p>
        </p:txBody>
      </p:sp>
      <p:pic>
        <p:nvPicPr>
          <p:cNvPr id="6" name="Image 0" descr="/mnt/data/lab03_presentation_v2/assets/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7465" y="914400"/>
            <a:ext cx="7857069" cy="52760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0976" y="6286500"/>
            <a:ext cx="1030528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1430" dirty="0">
                <a:solidFill>
                  <a:srgbClr val="223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Рис. 12: Настройка скорости, задержки и потерь канала</a:t>
            </a:r>
            <a:endParaRPr lang="ru-RU" sz="1430" dirty="0"/>
          </a:p>
        </p:txBody>
      </p:sp>
      <p:sp>
        <p:nvSpPr>
          <p:cNvPr id="9" name="Text 5"/>
          <p:cNvSpPr/>
          <p:nvPr/>
        </p:nvSpPr>
        <p:spPr>
          <a:xfrm>
            <a:off x="11402568" y="6510528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ru-RU" altLang="en-US" sz="1080" dirty="0">
                <a:solidFill>
                  <a:srgbClr val="5162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15/34</a:t>
            </a:r>
            <a:endParaRPr lang="ru-RU" sz="108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66267"/>
          </a:xfrm>
          <a:prstGeom prst="rect">
            <a:avLst/>
          </a:prstGeom>
          <a:solidFill>
            <a:srgbClr val="22373A"/>
          </a:solidFill>
          <a:ln w="12700">
            <a:solidFill>
              <a:srgbClr val="2237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68096"/>
            <a:ext cx="1051560" cy="0"/>
          </a:xfrm>
          <a:prstGeom prst="line">
            <a:avLst/>
          </a:prstGeom>
          <a:noFill/>
          <a:ln w="14605">
            <a:solidFill>
              <a:srgbClr val="DE9B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" y="768096"/>
            <a:ext cx="11140440" cy="0"/>
          </a:xfrm>
          <a:prstGeom prst="line">
            <a:avLst/>
          </a:prstGeom>
          <a:noFill/>
          <a:ln w="5080">
            <a:solidFill>
              <a:srgbClr val="CCB9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83464" y="198425"/>
            <a:ext cx="11612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 сети с ограничениями</a:t>
            </a:r>
            <a:endParaRPr lang="ru-RU" sz="1950" dirty="0"/>
          </a:p>
        </p:txBody>
      </p:sp>
      <p:pic>
        <p:nvPicPr>
          <p:cNvPr id="6" name="Image 0" descr="/mnt/data/lab03_presentation_v2/assets/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780" y="1183071"/>
            <a:ext cx="10378440" cy="47387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0976" y="6286500"/>
            <a:ext cx="1030528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1430" dirty="0">
                <a:solidFill>
                  <a:srgbClr val="223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Рис. 13: Запуск сети с заданными ограничениями</a:t>
            </a:r>
            <a:endParaRPr lang="ru-RU" sz="1430" dirty="0"/>
          </a:p>
        </p:txBody>
      </p:sp>
      <p:sp>
        <p:nvSpPr>
          <p:cNvPr id="9" name="Text 5"/>
          <p:cNvSpPr/>
          <p:nvPr/>
        </p:nvSpPr>
        <p:spPr>
          <a:xfrm>
            <a:off x="11402568" y="6510528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ru-RU" altLang="en-US" sz="1080" dirty="0">
                <a:solidFill>
                  <a:srgbClr val="5162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16/34</a:t>
            </a:r>
            <a:endParaRPr lang="ru-RU" sz="108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66267"/>
          </a:xfrm>
          <a:prstGeom prst="rect">
            <a:avLst/>
          </a:prstGeom>
          <a:solidFill>
            <a:srgbClr val="22373A"/>
          </a:solidFill>
          <a:ln w="12700">
            <a:solidFill>
              <a:srgbClr val="2237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68096"/>
            <a:ext cx="1051560" cy="0"/>
          </a:xfrm>
          <a:prstGeom prst="line">
            <a:avLst/>
          </a:prstGeom>
          <a:noFill/>
          <a:ln w="14605">
            <a:solidFill>
              <a:srgbClr val="DE9B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" y="768096"/>
            <a:ext cx="11140440" cy="0"/>
          </a:xfrm>
          <a:prstGeom prst="line">
            <a:avLst/>
          </a:prstGeom>
          <a:noFill/>
          <a:ln w="5080">
            <a:solidFill>
              <a:srgbClr val="CCB9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83464" y="198425"/>
            <a:ext cx="11612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параметров с помощью tc</a:t>
            </a:r>
            <a:endParaRPr lang="ru-RU" sz="1950" dirty="0"/>
          </a:p>
        </p:txBody>
      </p:sp>
      <p:pic>
        <p:nvPicPr>
          <p:cNvPr id="6" name="Image 0" descr="/mnt/data/lab03_presentation_v2/assets/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780" y="2439186"/>
            <a:ext cx="10378440" cy="22265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0976" y="6286500"/>
            <a:ext cx="1030528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1430" dirty="0">
                <a:solidFill>
                  <a:srgbClr val="223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Рис. 14: Проверка HTB и netem через tc</a:t>
            </a:r>
            <a:endParaRPr lang="ru-RU" sz="1430" dirty="0"/>
          </a:p>
        </p:txBody>
      </p:sp>
      <p:sp>
        <p:nvSpPr>
          <p:cNvPr id="9" name="Text 5"/>
          <p:cNvSpPr/>
          <p:nvPr/>
        </p:nvSpPr>
        <p:spPr>
          <a:xfrm>
            <a:off x="11402568" y="6510528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ru-RU" altLang="en-US" sz="1080" dirty="0">
                <a:solidFill>
                  <a:srgbClr val="5162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17/34</a:t>
            </a:r>
            <a:endParaRPr lang="ru-RU" sz="108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55848" y="2843784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altLang="en-US" sz="2340" dirty="0">
                <a:solidFill>
                  <a:srgbClr val="223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работоспособности</a:t>
            </a:r>
            <a:endParaRPr lang="ru-RU" sz="2340" dirty="0"/>
          </a:p>
        </p:txBody>
      </p:sp>
      <p:sp>
        <p:nvSpPr>
          <p:cNvPr id="3" name="Shape 1"/>
          <p:cNvSpPr/>
          <p:nvPr/>
        </p:nvSpPr>
        <p:spPr>
          <a:xfrm>
            <a:off x="3355848" y="3534156"/>
            <a:ext cx="5486400" cy="0"/>
          </a:xfrm>
          <a:prstGeom prst="line">
            <a:avLst/>
          </a:prstGeom>
          <a:noFill/>
          <a:ln w="7620">
            <a:solidFill>
              <a:srgbClr val="D7CC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355848" y="3534156"/>
            <a:ext cx="173736" cy="0"/>
          </a:xfrm>
          <a:prstGeom prst="line">
            <a:avLst/>
          </a:prstGeom>
          <a:noFill/>
          <a:ln w="13970">
            <a:solidFill>
              <a:srgbClr val="DE9B5F"/>
            </a:solidFill>
            <a:prstDash val="solid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66267"/>
          </a:xfrm>
          <a:prstGeom prst="rect">
            <a:avLst/>
          </a:prstGeom>
          <a:solidFill>
            <a:srgbClr val="22373A"/>
          </a:solidFill>
          <a:ln w="12700">
            <a:solidFill>
              <a:srgbClr val="2237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68096"/>
            <a:ext cx="1051560" cy="0"/>
          </a:xfrm>
          <a:prstGeom prst="line">
            <a:avLst/>
          </a:prstGeom>
          <a:noFill/>
          <a:ln w="14605">
            <a:solidFill>
              <a:srgbClr val="DE9B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" y="768096"/>
            <a:ext cx="11140440" cy="0"/>
          </a:xfrm>
          <a:prstGeom prst="line">
            <a:avLst/>
          </a:prstGeom>
          <a:noFill/>
          <a:ln w="5080">
            <a:solidFill>
              <a:srgbClr val="CCB9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83464" y="198425"/>
            <a:ext cx="11612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ICMP-тест сети с ограничениями</a:t>
            </a:r>
            <a:endParaRPr lang="ru-RU" sz="1950" dirty="0"/>
          </a:p>
        </p:txBody>
      </p:sp>
      <p:pic>
        <p:nvPicPr>
          <p:cNvPr id="6" name="Image 0" descr="/mnt/data/lab03_presentation_v2/assets/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6504" y="914400"/>
            <a:ext cx="7738992" cy="52760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0976" y="6286500"/>
            <a:ext cx="1030528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1430" dirty="0">
                <a:solidFill>
                  <a:srgbClr val="223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Рис. 15: ICMP-измерения в ограниченной сети</a:t>
            </a:r>
            <a:endParaRPr lang="ru-RU" sz="1430" dirty="0"/>
          </a:p>
        </p:txBody>
      </p:sp>
      <p:sp>
        <p:nvSpPr>
          <p:cNvPr id="9" name="Text 5"/>
          <p:cNvSpPr/>
          <p:nvPr/>
        </p:nvSpPr>
        <p:spPr>
          <a:xfrm>
            <a:off x="11402568" y="6510528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ru-RU" altLang="en-US" sz="1080" dirty="0">
                <a:solidFill>
                  <a:srgbClr val="5162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18/34</a:t>
            </a:r>
            <a:endParaRPr lang="ru-RU" sz="108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66267"/>
          </a:xfrm>
          <a:prstGeom prst="rect">
            <a:avLst/>
          </a:prstGeom>
          <a:solidFill>
            <a:srgbClr val="22373A"/>
          </a:solidFill>
          <a:ln w="12700">
            <a:solidFill>
              <a:srgbClr val="2237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68096"/>
            <a:ext cx="1051560" cy="0"/>
          </a:xfrm>
          <a:prstGeom prst="line">
            <a:avLst/>
          </a:prstGeom>
          <a:noFill/>
          <a:ln w="14605">
            <a:solidFill>
              <a:srgbClr val="DE9B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" y="768096"/>
            <a:ext cx="11140440" cy="0"/>
          </a:xfrm>
          <a:prstGeom prst="line">
            <a:avLst/>
          </a:prstGeom>
          <a:noFill/>
          <a:ln w="5080">
            <a:solidFill>
              <a:srgbClr val="CCB9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83464" y="198425"/>
            <a:ext cx="11612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ICMP-тест исходной сети</a:t>
            </a:r>
            <a:endParaRPr lang="ru-RU" sz="1950" dirty="0"/>
          </a:p>
        </p:txBody>
      </p:sp>
      <p:pic>
        <p:nvPicPr>
          <p:cNvPr id="6" name="Image 0" descr="/mnt/data/lab03_presentation_v2/assets/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24245" y="914400"/>
            <a:ext cx="5943510" cy="52760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0976" y="6286500"/>
            <a:ext cx="1030528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1430" dirty="0">
                <a:solidFill>
                  <a:srgbClr val="223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Рис. 16: ICMP-измерения в сети без ограничений</a:t>
            </a:r>
            <a:endParaRPr lang="ru-RU" sz="1430" dirty="0"/>
          </a:p>
        </p:txBody>
      </p:sp>
      <p:sp>
        <p:nvSpPr>
          <p:cNvPr id="9" name="Text 5"/>
          <p:cNvSpPr/>
          <p:nvPr/>
        </p:nvSpPr>
        <p:spPr>
          <a:xfrm>
            <a:off x="11402568" y="6510528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ru-RU" altLang="en-US" sz="1080" dirty="0">
                <a:solidFill>
                  <a:srgbClr val="5162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19/34</a:t>
            </a:r>
            <a:endParaRPr lang="ru-RU" sz="108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55848" y="2843784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altLang="en-US" sz="2340" dirty="0">
                <a:solidFill>
                  <a:srgbClr val="223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Воспроизводимый эксперимент</a:t>
            </a:r>
            <a:endParaRPr lang="ru-RU" sz="2340" dirty="0"/>
          </a:p>
        </p:txBody>
      </p:sp>
      <p:sp>
        <p:nvSpPr>
          <p:cNvPr id="3" name="Shape 1"/>
          <p:cNvSpPr/>
          <p:nvPr/>
        </p:nvSpPr>
        <p:spPr>
          <a:xfrm>
            <a:off x="3355848" y="3534156"/>
            <a:ext cx="5486400" cy="0"/>
          </a:xfrm>
          <a:prstGeom prst="line">
            <a:avLst/>
          </a:prstGeom>
          <a:noFill/>
          <a:ln w="7620">
            <a:solidFill>
              <a:srgbClr val="D7CC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355848" y="3534156"/>
            <a:ext cx="173736" cy="0"/>
          </a:xfrm>
          <a:prstGeom prst="line">
            <a:avLst/>
          </a:prstGeom>
          <a:noFill/>
          <a:ln w="13970">
            <a:solidFill>
              <a:srgbClr val="DE9B5F"/>
            </a:solidFill>
            <a:prstDash val="solid"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66267"/>
          </a:xfrm>
          <a:prstGeom prst="rect">
            <a:avLst/>
          </a:prstGeom>
          <a:solidFill>
            <a:srgbClr val="22373A"/>
          </a:solidFill>
          <a:ln w="12700">
            <a:solidFill>
              <a:srgbClr val="2237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68096"/>
            <a:ext cx="1051560" cy="0"/>
          </a:xfrm>
          <a:prstGeom prst="line">
            <a:avLst/>
          </a:prstGeom>
          <a:noFill/>
          <a:ln w="14605">
            <a:solidFill>
              <a:srgbClr val="DE9B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" y="768096"/>
            <a:ext cx="11140440" cy="0"/>
          </a:xfrm>
          <a:prstGeom prst="line">
            <a:avLst/>
          </a:prstGeom>
          <a:noFill/>
          <a:ln w="5080">
            <a:solidFill>
              <a:srgbClr val="CCB9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83464" y="198425"/>
            <a:ext cx="11612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Подготовка автоматизированного эксперимента</a:t>
            </a:r>
            <a:endParaRPr lang="ru-RU" sz="1950" dirty="0"/>
          </a:p>
        </p:txBody>
      </p:sp>
      <p:pic>
        <p:nvPicPr>
          <p:cNvPr id="6" name="Image 0" descr="/mnt/data/lab03_presentation_v2/assets/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780" y="2092606"/>
            <a:ext cx="10378440" cy="29196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0976" y="6286500"/>
            <a:ext cx="1030528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1430" dirty="0">
                <a:solidFill>
                  <a:srgbClr val="223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Рис. 17: Создание каталога автоматизированного эксперимента</a:t>
            </a:r>
            <a:endParaRPr lang="ru-RU" sz="1430" dirty="0"/>
          </a:p>
        </p:txBody>
      </p:sp>
      <p:sp>
        <p:nvSpPr>
          <p:cNvPr id="9" name="Text 5"/>
          <p:cNvSpPr/>
          <p:nvPr/>
        </p:nvSpPr>
        <p:spPr>
          <a:xfrm>
            <a:off x="11402568" y="6510528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ru-RU" altLang="en-US" sz="1080" dirty="0">
                <a:solidFill>
                  <a:srgbClr val="5162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20/34</a:t>
            </a:r>
            <a:endParaRPr lang="ru-RU" sz="108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66267"/>
          </a:xfrm>
          <a:prstGeom prst="rect">
            <a:avLst/>
          </a:prstGeom>
          <a:solidFill>
            <a:srgbClr val="22373A"/>
          </a:solidFill>
          <a:ln w="12700">
            <a:solidFill>
              <a:srgbClr val="2237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68096"/>
            <a:ext cx="1051560" cy="0"/>
          </a:xfrm>
          <a:prstGeom prst="line">
            <a:avLst/>
          </a:prstGeom>
          <a:noFill/>
          <a:ln w="14605">
            <a:solidFill>
              <a:srgbClr val="DE9B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" y="768096"/>
            <a:ext cx="11140440" cy="0"/>
          </a:xfrm>
          <a:prstGeom prst="line">
            <a:avLst/>
          </a:prstGeom>
          <a:noFill/>
          <a:ln w="5080">
            <a:solidFill>
              <a:srgbClr val="CCB9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83464" y="198425"/>
            <a:ext cx="11612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Настройка Python-скрипта iPerf3</a:t>
            </a:r>
            <a:endParaRPr lang="ru-RU" sz="1950" dirty="0"/>
          </a:p>
        </p:txBody>
      </p:sp>
      <p:pic>
        <p:nvPicPr>
          <p:cNvPr id="6" name="Image 0" descr="/mnt/data/lab03_presentation_v2/assets/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18954" y="914400"/>
            <a:ext cx="6354093" cy="52760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0976" y="6286500"/>
            <a:ext cx="1030528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1430" dirty="0">
                <a:solidFill>
                  <a:srgbClr val="223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Рис. 18: Подготовка скрипта без ограничений CPU</a:t>
            </a:r>
            <a:endParaRPr lang="ru-RU" sz="1430" dirty="0"/>
          </a:p>
        </p:txBody>
      </p:sp>
      <p:sp>
        <p:nvSpPr>
          <p:cNvPr id="9" name="Text 5"/>
          <p:cNvSpPr/>
          <p:nvPr/>
        </p:nvSpPr>
        <p:spPr>
          <a:xfrm>
            <a:off x="11402568" y="6510528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ru-RU" altLang="en-US" sz="1080" dirty="0">
                <a:solidFill>
                  <a:srgbClr val="5162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21/34</a:t>
            </a:r>
            <a:endParaRPr lang="ru-RU" sz="108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66267"/>
          </a:xfrm>
          <a:prstGeom prst="rect">
            <a:avLst/>
          </a:prstGeom>
          <a:solidFill>
            <a:srgbClr val="22373A"/>
          </a:solidFill>
          <a:ln w="12700">
            <a:solidFill>
              <a:srgbClr val="2237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68096"/>
            <a:ext cx="1051560" cy="0"/>
          </a:xfrm>
          <a:prstGeom prst="line">
            <a:avLst/>
          </a:prstGeom>
          <a:noFill/>
          <a:ln w="14605">
            <a:solidFill>
              <a:srgbClr val="DE9B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" y="768096"/>
            <a:ext cx="11140440" cy="0"/>
          </a:xfrm>
          <a:prstGeom prst="line">
            <a:avLst/>
          </a:prstGeom>
          <a:noFill/>
          <a:ln w="5080">
            <a:solidFill>
              <a:srgbClr val="CCB9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83464" y="198425"/>
            <a:ext cx="11612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Конфигурация каналов по 100 Мбит/с</a:t>
            </a:r>
            <a:endParaRPr lang="ru-RU" sz="1950" dirty="0"/>
          </a:p>
        </p:txBody>
      </p:sp>
      <p:pic>
        <p:nvPicPr>
          <p:cNvPr id="6" name="Image 0" descr="/mnt/data/lab03_presentation_v2/assets/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18954" y="914400"/>
            <a:ext cx="6354093" cy="52760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0976" y="6286500"/>
            <a:ext cx="1030528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1430" dirty="0">
                <a:solidFill>
                  <a:srgbClr val="223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Рис. 19: Настройка обоих каналов на 100 Мбит/с</a:t>
            </a:r>
            <a:endParaRPr lang="ru-RU" sz="1430" dirty="0"/>
          </a:p>
        </p:txBody>
      </p:sp>
      <p:sp>
        <p:nvSpPr>
          <p:cNvPr id="9" name="Text 5"/>
          <p:cNvSpPr/>
          <p:nvPr/>
        </p:nvSpPr>
        <p:spPr>
          <a:xfrm>
            <a:off x="11402568" y="6510528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ru-RU" altLang="en-US" sz="1080" dirty="0">
                <a:solidFill>
                  <a:srgbClr val="5162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22/34</a:t>
            </a:r>
            <a:endParaRPr lang="ru-RU" sz="108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66267"/>
          </a:xfrm>
          <a:prstGeom prst="rect">
            <a:avLst/>
          </a:prstGeom>
          <a:solidFill>
            <a:srgbClr val="22373A"/>
          </a:solidFill>
          <a:ln w="12700">
            <a:solidFill>
              <a:srgbClr val="2237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68096"/>
            <a:ext cx="1051560" cy="0"/>
          </a:xfrm>
          <a:prstGeom prst="line">
            <a:avLst/>
          </a:prstGeom>
          <a:noFill/>
          <a:ln w="14605">
            <a:solidFill>
              <a:srgbClr val="DE9B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" y="768096"/>
            <a:ext cx="11140440" cy="0"/>
          </a:xfrm>
          <a:prstGeom prst="line">
            <a:avLst/>
          </a:prstGeom>
          <a:noFill/>
          <a:ln w="5080">
            <a:solidFill>
              <a:srgbClr val="CCB9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83464" y="198425"/>
            <a:ext cx="11612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Автоматический запуск сервера и клиента</a:t>
            </a:r>
            <a:endParaRPr lang="ru-RU" sz="1950" dirty="0"/>
          </a:p>
        </p:txBody>
      </p:sp>
      <p:pic>
        <p:nvPicPr>
          <p:cNvPr id="6" name="Image 0" descr="/mnt/data/lab03_presentation_v2/assets/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7465" y="914400"/>
            <a:ext cx="7857069" cy="52760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0976" y="6286500"/>
            <a:ext cx="1030528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1430" dirty="0">
                <a:solidFill>
                  <a:srgbClr val="223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Рис. 20: Программный запуск iPerf3 и сохранение JSON</a:t>
            </a:r>
            <a:endParaRPr lang="ru-RU" sz="1430" dirty="0"/>
          </a:p>
        </p:txBody>
      </p:sp>
      <p:sp>
        <p:nvSpPr>
          <p:cNvPr id="9" name="Text 5"/>
          <p:cNvSpPr/>
          <p:nvPr/>
        </p:nvSpPr>
        <p:spPr>
          <a:xfrm>
            <a:off x="11402568" y="6510528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ru-RU" altLang="en-US" sz="1080" dirty="0">
                <a:solidFill>
                  <a:srgbClr val="5162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23/34</a:t>
            </a:r>
            <a:endParaRPr lang="ru-RU" sz="108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66267"/>
          </a:xfrm>
          <a:prstGeom prst="rect">
            <a:avLst/>
          </a:prstGeom>
          <a:solidFill>
            <a:srgbClr val="22373A"/>
          </a:solidFill>
          <a:ln w="12700">
            <a:solidFill>
              <a:srgbClr val="2237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68096"/>
            <a:ext cx="1051560" cy="0"/>
          </a:xfrm>
          <a:prstGeom prst="line">
            <a:avLst/>
          </a:prstGeom>
          <a:noFill/>
          <a:ln w="14605">
            <a:solidFill>
              <a:srgbClr val="DE9B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" y="768096"/>
            <a:ext cx="11140440" cy="0"/>
          </a:xfrm>
          <a:prstGeom prst="line">
            <a:avLst/>
          </a:prstGeom>
          <a:noFill/>
          <a:ln w="5080">
            <a:solidFill>
              <a:srgbClr val="CCB9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83464" y="198425"/>
            <a:ext cx="11612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Выполнение TCP-эксперимента</a:t>
            </a:r>
            <a:endParaRPr lang="ru-RU" sz="1950" dirty="0"/>
          </a:p>
        </p:txBody>
      </p:sp>
      <p:pic>
        <p:nvPicPr>
          <p:cNvPr id="6" name="Image 0" descr="/mnt/data/lab03_presentation_v2/assets/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2754" y="914400"/>
            <a:ext cx="7166493" cy="52760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0976" y="6286500"/>
            <a:ext cx="1030528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1430" dirty="0">
                <a:solidFill>
                  <a:srgbClr val="223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Рис. 21: Выполнение автоматизированного эксперимента</a:t>
            </a:r>
            <a:endParaRPr lang="ru-RU" sz="1430" dirty="0"/>
          </a:p>
        </p:txBody>
      </p:sp>
      <p:sp>
        <p:nvSpPr>
          <p:cNvPr id="9" name="Text 5"/>
          <p:cNvSpPr/>
          <p:nvPr/>
        </p:nvSpPr>
        <p:spPr>
          <a:xfrm>
            <a:off x="11402568" y="6510528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ru-RU" altLang="en-US" sz="1080" dirty="0">
                <a:solidFill>
                  <a:srgbClr val="5162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24/34</a:t>
            </a:r>
            <a:endParaRPr lang="ru-RU" sz="108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66267"/>
          </a:xfrm>
          <a:prstGeom prst="rect">
            <a:avLst/>
          </a:prstGeom>
          <a:solidFill>
            <a:srgbClr val="22373A"/>
          </a:solidFill>
          <a:ln w="12700">
            <a:solidFill>
              <a:srgbClr val="2237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68096"/>
            <a:ext cx="1051560" cy="0"/>
          </a:xfrm>
          <a:prstGeom prst="line">
            <a:avLst/>
          </a:prstGeom>
          <a:noFill/>
          <a:ln w="14605">
            <a:solidFill>
              <a:srgbClr val="DE9B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" y="768096"/>
            <a:ext cx="11140440" cy="0"/>
          </a:xfrm>
          <a:prstGeom prst="line">
            <a:avLst/>
          </a:prstGeom>
          <a:noFill/>
          <a:ln w="5080">
            <a:solidFill>
              <a:srgbClr val="CCB9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83464" y="198425"/>
            <a:ext cx="11612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результатов в JSON</a:t>
            </a:r>
            <a:endParaRPr lang="ru-RU" sz="1950" dirty="0"/>
          </a:p>
        </p:txBody>
      </p:sp>
      <p:pic>
        <p:nvPicPr>
          <p:cNvPr id="6" name="Image 0" descr="/mnt/data/lab03_presentation_v2/assets/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780" y="2265107"/>
            <a:ext cx="10378440" cy="25746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0976" y="6286500"/>
            <a:ext cx="1030528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1430" dirty="0">
                <a:solidFill>
                  <a:srgbClr val="223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Рис. 22: Проверка первого JSON-результата</a:t>
            </a:r>
            <a:endParaRPr lang="ru-RU" sz="1430" dirty="0"/>
          </a:p>
        </p:txBody>
      </p:sp>
      <p:sp>
        <p:nvSpPr>
          <p:cNvPr id="9" name="Text 5"/>
          <p:cNvSpPr/>
          <p:nvPr/>
        </p:nvSpPr>
        <p:spPr>
          <a:xfrm>
            <a:off x="11402568" y="6510528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ru-RU" altLang="en-US" sz="1080" dirty="0">
                <a:solidFill>
                  <a:srgbClr val="5162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25/34</a:t>
            </a:r>
            <a:endParaRPr lang="ru-RU" sz="108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66267"/>
          </a:xfrm>
          <a:prstGeom prst="rect">
            <a:avLst/>
          </a:prstGeom>
          <a:solidFill>
            <a:srgbClr val="22373A"/>
          </a:solidFill>
          <a:ln w="12700">
            <a:solidFill>
              <a:srgbClr val="2237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68096"/>
            <a:ext cx="1051560" cy="0"/>
          </a:xfrm>
          <a:prstGeom prst="line">
            <a:avLst/>
          </a:prstGeom>
          <a:noFill/>
          <a:ln w="14605">
            <a:solidFill>
              <a:srgbClr val="DE9B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" y="768096"/>
            <a:ext cx="11140440" cy="0"/>
          </a:xfrm>
          <a:prstGeom prst="line">
            <a:avLst/>
          </a:prstGeom>
          <a:noFill/>
          <a:ln w="5080">
            <a:solidFill>
              <a:srgbClr val="CCB9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83464" y="198425"/>
            <a:ext cx="11612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Построение графиков iPerf3</a:t>
            </a:r>
            <a:endParaRPr lang="ru-RU" sz="1950" dirty="0"/>
          </a:p>
        </p:txBody>
      </p:sp>
      <p:pic>
        <p:nvPicPr>
          <p:cNvPr id="6" name="Image 0" descr="/mnt/data/lab03_presentation_v2/assets/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780" y="2065678"/>
            <a:ext cx="10378440" cy="297353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0976" y="6286500"/>
            <a:ext cx="1030528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1430" dirty="0">
                <a:solidFill>
                  <a:srgbClr val="223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Рис. 23: Генерация PDF-графиков</a:t>
            </a:r>
            <a:endParaRPr lang="ru-RU" sz="1430" dirty="0"/>
          </a:p>
        </p:txBody>
      </p:sp>
      <p:sp>
        <p:nvSpPr>
          <p:cNvPr id="9" name="Text 5"/>
          <p:cNvSpPr/>
          <p:nvPr/>
        </p:nvSpPr>
        <p:spPr>
          <a:xfrm>
            <a:off x="11402568" y="6510528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ru-RU" altLang="en-US" sz="1080" dirty="0">
                <a:solidFill>
                  <a:srgbClr val="5162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26/34</a:t>
            </a:r>
            <a:endParaRPr lang="ru-RU" sz="108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55848" y="2843784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altLang="en-US" sz="2340" dirty="0">
                <a:solidFill>
                  <a:srgbClr val="223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Визуализация результатов</a:t>
            </a:r>
            <a:endParaRPr lang="ru-RU" sz="2340" dirty="0"/>
          </a:p>
        </p:txBody>
      </p:sp>
      <p:sp>
        <p:nvSpPr>
          <p:cNvPr id="3" name="Shape 1"/>
          <p:cNvSpPr/>
          <p:nvPr/>
        </p:nvSpPr>
        <p:spPr>
          <a:xfrm>
            <a:off x="3355848" y="3534156"/>
            <a:ext cx="5486400" cy="0"/>
          </a:xfrm>
          <a:prstGeom prst="line">
            <a:avLst/>
          </a:prstGeom>
          <a:noFill/>
          <a:ln w="7620">
            <a:solidFill>
              <a:srgbClr val="D7CC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355848" y="3534156"/>
            <a:ext cx="173736" cy="0"/>
          </a:xfrm>
          <a:prstGeom prst="line">
            <a:avLst/>
          </a:prstGeom>
          <a:noFill/>
          <a:ln w="13970">
            <a:solidFill>
              <a:srgbClr val="DE9B5F"/>
            </a:solidFill>
            <a:prstDash val="solid"/>
          </a:ln>
        </p:spPr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66267"/>
          </a:xfrm>
          <a:prstGeom prst="rect">
            <a:avLst/>
          </a:prstGeom>
          <a:solidFill>
            <a:srgbClr val="22373A"/>
          </a:solidFill>
          <a:ln w="12700">
            <a:solidFill>
              <a:srgbClr val="2237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68096"/>
            <a:ext cx="1051560" cy="0"/>
          </a:xfrm>
          <a:prstGeom prst="line">
            <a:avLst/>
          </a:prstGeom>
          <a:noFill/>
          <a:ln w="14605">
            <a:solidFill>
              <a:srgbClr val="DE9B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" y="768096"/>
            <a:ext cx="11140440" cy="0"/>
          </a:xfrm>
          <a:prstGeom prst="line">
            <a:avLst/>
          </a:prstGeom>
          <a:noFill/>
          <a:ln w="5080">
            <a:solidFill>
              <a:srgbClr val="CCB9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83464" y="198425"/>
            <a:ext cx="11612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Изменение пропускной способности</a:t>
            </a:r>
            <a:endParaRPr lang="ru-RU" sz="1950" dirty="0"/>
          </a:p>
        </p:txBody>
      </p:sp>
      <p:pic>
        <p:nvPicPr>
          <p:cNvPr id="6" name="Image 0" descr="/mnt/data/lab03_presentation_v2/assets/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44549" y="914400"/>
            <a:ext cx="4902901" cy="52760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0976" y="6286500"/>
            <a:ext cx="1030528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1430" dirty="0">
                <a:solidFill>
                  <a:srgbClr val="223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Рис. 24: График пропускной способности</a:t>
            </a:r>
            <a:endParaRPr lang="ru-RU" sz="1430" dirty="0"/>
          </a:p>
        </p:txBody>
      </p:sp>
      <p:sp>
        <p:nvSpPr>
          <p:cNvPr id="9" name="Text 5"/>
          <p:cNvSpPr/>
          <p:nvPr/>
        </p:nvSpPr>
        <p:spPr>
          <a:xfrm>
            <a:off x="11402568" y="6510528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ru-RU" altLang="en-US" sz="1080" dirty="0">
                <a:solidFill>
                  <a:srgbClr val="5162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27/34</a:t>
            </a:r>
            <a:endParaRPr lang="ru-RU" sz="108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66267"/>
          </a:xfrm>
          <a:prstGeom prst="rect">
            <a:avLst/>
          </a:prstGeom>
          <a:solidFill>
            <a:srgbClr val="22373A"/>
          </a:solidFill>
          <a:ln w="12700">
            <a:solidFill>
              <a:srgbClr val="2237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68096"/>
            <a:ext cx="1051560" cy="0"/>
          </a:xfrm>
          <a:prstGeom prst="line">
            <a:avLst/>
          </a:prstGeom>
          <a:noFill/>
          <a:ln w="14605">
            <a:solidFill>
              <a:srgbClr val="DE9B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" y="768096"/>
            <a:ext cx="11140440" cy="0"/>
          </a:xfrm>
          <a:prstGeom prst="line">
            <a:avLst/>
          </a:prstGeom>
          <a:noFill/>
          <a:ln w="5080">
            <a:solidFill>
              <a:srgbClr val="CCB9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83464" y="198425"/>
            <a:ext cx="11612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Окно перегрузки TCP</a:t>
            </a:r>
            <a:endParaRPr lang="ru-RU" sz="1950" dirty="0"/>
          </a:p>
        </p:txBody>
      </p:sp>
      <p:pic>
        <p:nvPicPr>
          <p:cNvPr id="6" name="Image 0" descr="/mnt/data/lab03_presentation_v2/assets/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44549" y="914400"/>
            <a:ext cx="4902901" cy="52760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0976" y="6286500"/>
            <a:ext cx="1030528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1430" dirty="0">
                <a:solidFill>
                  <a:srgbClr val="223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Рис. 25: График окна перегрузки TCP</a:t>
            </a:r>
            <a:endParaRPr lang="ru-RU" sz="1430" dirty="0"/>
          </a:p>
        </p:txBody>
      </p:sp>
      <p:sp>
        <p:nvSpPr>
          <p:cNvPr id="9" name="Text 5"/>
          <p:cNvSpPr/>
          <p:nvPr/>
        </p:nvSpPr>
        <p:spPr>
          <a:xfrm>
            <a:off x="11402568" y="6510528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ru-RU" altLang="en-US" sz="1080" dirty="0">
                <a:solidFill>
                  <a:srgbClr val="5162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28/34</a:t>
            </a:r>
            <a:endParaRPr lang="ru-RU" sz="108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66267"/>
          </a:xfrm>
          <a:prstGeom prst="rect">
            <a:avLst/>
          </a:prstGeom>
          <a:solidFill>
            <a:srgbClr val="22373A"/>
          </a:solidFill>
          <a:ln w="12700">
            <a:solidFill>
              <a:srgbClr val="2237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68096"/>
            <a:ext cx="1051560" cy="0"/>
          </a:xfrm>
          <a:prstGeom prst="line">
            <a:avLst/>
          </a:prstGeom>
          <a:noFill/>
          <a:ln w="14605">
            <a:solidFill>
              <a:srgbClr val="DE9B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" y="768096"/>
            <a:ext cx="11140440" cy="0"/>
          </a:xfrm>
          <a:prstGeom prst="line">
            <a:avLst/>
          </a:prstGeom>
          <a:noFill/>
          <a:ln w="5080">
            <a:solidFill>
              <a:srgbClr val="CCB9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83464" y="198425"/>
            <a:ext cx="11612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Время подтверждения TCP (RTT)</a:t>
            </a:r>
            <a:endParaRPr lang="ru-RU" sz="1950" dirty="0"/>
          </a:p>
        </p:txBody>
      </p:sp>
      <p:pic>
        <p:nvPicPr>
          <p:cNvPr id="6" name="Image 0" descr="/mnt/data/lab03_presentation_v2/assets/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44549" y="914400"/>
            <a:ext cx="4902901" cy="52760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0976" y="6286500"/>
            <a:ext cx="1030528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1430" dirty="0">
                <a:solidFill>
                  <a:srgbClr val="223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Рис. 26: График RTT</a:t>
            </a:r>
            <a:endParaRPr lang="ru-RU" sz="1430" dirty="0"/>
          </a:p>
        </p:txBody>
      </p:sp>
      <p:sp>
        <p:nvSpPr>
          <p:cNvPr id="9" name="Text 5"/>
          <p:cNvSpPr/>
          <p:nvPr/>
        </p:nvSpPr>
        <p:spPr>
          <a:xfrm>
            <a:off x="11402568" y="6510528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ru-RU" altLang="en-US" sz="1080" dirty="0">
                <a:solidFill>
                  <a:srgbClr val="5162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29/34</a:t>
            </a:r>
            <a:endParaRPr lang="ru-RU" sz="108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55848" y="2843784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altLang="en-US" sz="2340" dirty="0">
                <a:solidFill>
                  <a:srgbClr val="223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GNU Make и повторный запуск</a:t>
            </a:r>
            <a:endParaRPr lang="ru-RU" sz="2340" dirty="0"/>
          </a:p>
        </p:txBody>
      </p:sp>
      <p:sp>
        <p:nvSpPr>
          <p:cNvPr id="3" name="Shape 1"/>
          <p:cNvSpPr/>
          <p:nvPr/>
        </p:nvSpPr>
        <p:spPr>
          <a:xfrm>
            <a:off x="3355848" y="3534156"/>
            <a:ext cx="5486400" cy="0"/>
          </a:xfrm>
          <a:prstGeom prst="line">
            <a:avLst/>
          </a:prstGeom>
          <a:noFill/>
          <a:ln w="7620">
            <a:solidFill>
              <a:srgbClr val="D7CC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355848" y="3534156"/>
            <a:ext cx="173736" cy="0"/>
          </a:xfrm>
          <a:prstGeom prst="line">
            <a:avLst/>
          </a:prstGeom>
          <a:noFill/>
          <a:ln w="13970">
            <a:solidFill>
              <a:srgbClr val="DE9B5F"/>
            </a:solidFill>
            <a:prstDash val="solid"/>
          </a:ln>
        </p:spPr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66267"/>
          </a:xfrm>
          <a:prstGeom prst="rect">
            <a:avLst/>
          </a:prstGeom>
          <a:solidFill>
            <a:srgbClr val="22373A"/>
          </a:solidFill>
          <a:ln w="12700">
            <a:solidFill>
              <a:srgbClr val="2237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68096"/>
            <a:ext cx="1051560" cy="0"/>
          </a:xfrm>
          <a:prstGeom prst="line">
            <a:avLst/>
          </a:prstGeom>
          <a:noFill/>
          <a:ln w="14605">
            <a:solidFill>
              <a:srgbClr val="DE9B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" y="768096"/>
            <a:ext cx="11140440" cy="0"/>
          </a:xfrm>
          <a:prstGeom prst="line">
            <a:avLst/>
          </a:prstGeom>
          <a:noFill/>
          <a:ln w="5080">
            <a:solidFill>
              <a:srgbClr val="CCB9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83464" y="198425"/>
            <a:ext cx="11612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Автоматизация с помощью Makefile</a:t>
            </a:r>
            <a:endParaRPr lang="ru-RU" sz="1950" dirty="0"/>
          </a:p>
        </p:txBody>
      </p:sp>
      <p:pic>
        <p:nvPicPr>
          <p:cNvPr id="6" name="Image 0" descr="/mnt/data/lab03_presentation_v2/assets/2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8675" y="914400"/>
            <a:ext cx="8354650" cy="52760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0976" y="6286500"/>
            <a:ext cx="1030528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1430" dirty="0">
                <a:solidFill>
                  <a:srgbClr val="223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Рис. 27: Правила автоматизации в Makefile</a:t>
            </a:r>
            <a:endParaRPr lang="ru-RU" sz="1430" dirty="0"/>
          </a:p>
        </p:txBody>
      </p:sp>
      <p:sp>
        <p:nvSpPr>
          <p:cNvPr id="9" name="Text 5"/>
          <p:cNvSpPr/>
          <p:nvPr/>
        </p:nvSpPr>
        <p:spPr>
          <a:xfrm>
            <a:off x="11402568" y="6510528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ru-RU" altLang="en-US" sz="1080" dirty="0">
                <a:solidFill>
                  <a:srgbClr val="5162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30/34</a:t>
            </a:r>
            <a:endParaRPr lang="ru-RU" sz="108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66267"/>
          </a:xfrm>
          <a:prstGeom prst="rect">
            <a:avLst/>
          </a:prstGeom>
          <a:solidFill>
            <a:srgbClr val="22373A"/>
          </a:solidFill>
          <a:ln w="12700">
            <a:solidFill>
              <a:srgbClr val="2237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68096"/>
            <a:ext cx="1051560" cy="0"/>
          </a:xfrm>
          <a:prstGeom prst="line">
            <a:avLst/>
          </a:prstGeom>
          <a:noFill/>
          <a:ln w="14605">
            <a:solidFill>
              <a:srgbClr val="DE9B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" y="768096"/>
            <a:ext cx="11140440" cy="0"/>
          </a:xfrm>
          <a:prstGeom prst="line">
            <a:avLst/>
          </a:prstGeom>
          <a:noFill/>
          <a:ln w="5080">
            <a:solidFill>
              <a:srgbClr val="CCB9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83464" y="198425"/>
            <a:ext cx="11612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Повторный запуск эксперимента</a:t>
            </a:r>
            <a:endParaRPr lang="ru-RU" sz="1950" dirty="0"/>
          </a:p>
        </p:txBody>
      </p:sp>
      <p:pic>
        <p:nvPicPr>
          <p:cNvPr id="6" name="Image 0" descr="/mnt/data/lab03_presentation_v2/assets/2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778" y="914400"/>
            <a:ext cx="9356443" cy="52760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0976" y="6286500"/>
            <a:ext cx="1030528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1430" dirty="0">
                <a:solidFill>
                  <a:srgbClr val="223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Рис. 28: Повторный запуск после очистки результатов</a:t>
            </a:r>
            <a:endParaRPr lang="ru-RU" sz="1430" dirty="0"/>
          </a:p>
        </p:txBody>
      </p:sp>
      <p:sp>
        <p:nvSpPr>
          <p:cNvPr id="9" name="Text 5"/>
          <p:cNvSpPr/>
          <p:nvPr/>
        </p:nvSpPr>
        <p:spPr>
          <a:xfrm>
            <a:off x="11402568" y="6510528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ru-RU" altLang="en-US" sz="1080" dirty="0">
                <a:solidFill>
                  <a:srgbClr val="5162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31/34</a:t>
            </a:r>
            <a:endParaRPr lang="ru-RU" sz="108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66267"/>
          </a:xfrm>
          <a:prstGeom prst="rect">
            <a:avLst/>
          </a:prstGeom>
          <a:solidFill>
            <a:srgbClr val="22373A"/>
          </a:solidFill>
          <a:ln w="12700">
            <a:solidFill>
              <a:srgbClr val="2237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68096"/>
            <a:ext cx="1051560" cy="0"/>
          </a:xfrm>
          <a:prstGeom prst="line">
            <a:avLst/>
          </a:prstGeom>
          <a:noFill/>
          <a:ln w="14605">
            <a:solidFill>
              <a:srgbClr val="DE9B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" y="768096"/>
            <a:ext cx="11140440" cy="0"/>
          </a:xfrm>
          <a:prstGeom prst="line">
            <a:avLst/>
          </a:prstGeom>
          <a:noFill/>
          <a:ln w="5080">
            <a:solidFill>
              <a:srgbClr val="CCB9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83464" y="198425"/>
            <a:ext cx="11612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воспроизводимости результатов</a:t>
            </a:r>
            <a:endParaRPr lang="ru-RU" sz="1950" dirty="0"/>
          </a:p>
        </p:txBody>
      </p:sp>
      <p:pic>
        <p:nvPicPr>
          <p:cNvPr id="6" name="Image 0" descr="/mnt/data/lab03_presentation_v2/assets/2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780" y="2016435"/>
            <a:ext cx="10378440" cy="30720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0976" y="6286500"/>
            <a:ext cx="1030528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1430" dirty="0">
                <a:solidFill>
                  <a:srgbClr val="223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Рис. 29: Проверка итоговых файлов и результата</a:t>
            </a:r>
            <a:endParaRPr lang="ru-RU" sz="1430" dirty="0"/>
          </a:p>
        </p:txBody>
      </p:sp>
      <p:sp>
        <p:nvSpPr>
          <p:cNvPr id="9" name="Text 5"/>
          <p:cNvSpPr/>
          <p:nvPr/>
        </p:nvSpPr>
        <p:spPr>
          <a:xfrm>
            <a:off x="11402568" y="6510528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ru-RU" altLang="en-US" sz="1080" dirty="0">
                <a:solidFill>
                  <a:srgbClr val="5162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32/34</a:t>
            </a:r>
            <a:endParaRPr lang="ru-RU" sz="108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55848" y="2843784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altLang="en-US" sz="2340" dirty="0">
                <a:solidFill>
                  <a:srgbClr val="223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Выводы</a:t>
            </a:r>
            <a:endParaRPr lang="ru-RU" sz="2340" dirty="0"/>
          </a:p>
        </p:txBody>
      </p:sp>
      <p:sp>
        <p:nvSpPr>
          <p:cNvPr id="3" name="Shape 1"/>
          <p:cNvSpPr/>
          <p:nvPr/>
        </p:nvSpPr>
        <p:spPr>
          <a:xfrm>
            <a:off x="3355848" y="3534156"/>
            <a:ext cx="5486400" cy="0"/>
          </a:xfrm>
          <a:prstGeom prst="line">
            <a:avLst/>
          </a:prstGeom>
          <a:noFill/>
          <a:ln w="7620">
            <a:solidFill>
              <a:srgbClr val="D7CC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355848" y="3534156"/>
            <a:ext cx="173736" cy="0"/>
          </a:xfrm>
          <a:prstGeom prst="line">
            <a:avLst/>
          </a:prstGeom>
          <a:noFill/>
          <a:ln w="13970">
            <a:solidFill>
              <a:srgbClr val="DE9B5F"/>
            </a:solidFill>
            <a:prstDash val="solid"/>
          </a:ln>
        </p:spPr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66267"/>
          </a:xfrm>
          <a:prstGeom prst="rect">
            <a:avLst/>
          </a:prstGeom>
          <a:solidFill>
            <a:srgbClr val="22373A"/>
          </a:solidFill>
          <a:ln w="12700">
            <a:solidFill>
              <a:srgbClr val="2237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68096"/>
            <a:ext cx="1051560" cy="0"/>
          </a:xfrm>
          <a:prstGeom prst="line">
            <a:avLst/>
          </a:prstGeom>
          <a:noFill/>
          <a:ln w="14605">
            <a:solidFill>
              <a:srgbClr val="DE9B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" y="768096"/>
            <a:ext cx="11140440" cy="0"/>
          </a:xfrm>
          <a:prstGeom prst="line">
            <a:avLst/>
          </a:prstGeom>
          <a:noFill/>
          <a:ln w="5080">
            <a:solidFill>
              <a:srgbClr val="CCB9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83464" y="198425"/>
            <a:ext cx="11612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Сопоставление результатов</a:t>
            </a:r>
            <a:endParaRPr lang="ru-RU" sz="1950" dirty="0"/>
          </a:p>
        </p:txBody>
      </p:sp>
      <p:sp>
        <p:nvSpPr>
          <p:cNvPr id="6" name="Text 4"/>
          <p:cNvSpPr/>
          <p:nvPr/>
        </p:nvSpPr>
        <p:spPr>
          <a:xfrm>
            <a:off x="1051560" y="1197864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altLang="en-US" sz="2050" b="1" dirty="0">
                <a:solidFill>
                  <a:srgbClr val="223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ICMP</a:t>
            </a:r>
            <a:endParaRPr lang="ru-RU" sz="2050" dirty="0"/>
          </a:p>
        </p:txBody>
      </p:sp>
      <p:sp>
        <p:nvSpPr>
          <p:cNvPr id="7" name="Text 5"/>
          <p:cNvSpPr/>
          <p:nvPr/>
        </p:nvSpPr>
        <p:spPr>
          <a:xfrm>
            <a:off x="1051560" y="18013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altLang="en-US" sz="1500" dirty="0">
                <a:solidFill>
                  <a:srgbClr val="5162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Обычная сеть</a:t>
            </a:r>
            <a:endParaRPr lang="ru-RU" sz="1500" dirty="0"/>
          </a:p>
        </p:txBody>
      </p:sp>
      <p:sp>
        <p:nvSpPr>
          <p:cNvPr id="8" name="Text 6"/>
          <p:cNvSpPr/>
          <p:nvPr/>
        </p:nvSpPr>
        <p:spPr>
          <a:xfrm>
            <a:off x="1051560" y="21945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2010" dirty="0">
                <a:solidFill>
                  <a:srgbClr val="223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 потерь · RTT 0,176 мс</a:t>
            </a:r>
            <a:endParaRPr lang="ru-RU" sz="2010" dirty="0"/>
          </a:p>
        </p:txBody>
      </p:sp>
      <p:sp>
        <p:nvSpPr>
          <p:cNvPr id="9" name="Text 7"/>
          <p:cNvSpPr/>
          <p:nvPr/>
        </p:nvSpPr>
        <p:spPr>
          <a:xfrm>
            <a:off x="1051560" y="29718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altLang="en-US" sz="1500" dirty="0">
                <a:solidFill>
                  <a:srgbClr val="5162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Ограниченная сеть</a:t>
            </a:r>
            <a:endParaRPr lang="ru-RU" sz="1500" dirty="0"/>
          </a:p>
        </p:txBody>
      </p:sp>
      <p:sp>
        <p:nvSpPr>
          <p:cNvPr id="10" name="Text 8"/>
          <p:cNvSpPr/>
          <p:nvPr/>
        </p:nvSpPr>
        <p:spPr>
          <a:xfrm>
            <a:off x="1051560" y="336499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2010" dirty="0">
                <a:solidFill>
                  <a:srgbClr val="223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 потерь · RTT 187,525 мс</a:t>
            </a:r>
            <a:endParaRPr lang="ru-RU" sz="2010" dirty="0"/>
          </a:p>
        </p:txBody>
      </p:sp>
      <p:sp>
        <p:nvSpPr>
          <p:cNvPr id="11" name="Shape 9"/>
          <p:cNvSpPr/>
          <p:nvPr/>
        </p:nvSpPr>
        <p:spPr>
          <a:xfrm>
            <a:off x="6044184" y="1280160"/>
            <a:ext cx="0" cy="4160520"/>
          </a:xfrm>
          <a:prstGeom prst="line">
            <a:avLst/>
          </a:prstGeom>
          <a:noFill/>
          <a:ln w="7620">
            <a:solidFill>
              <a:srgbClr val="DDD6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197864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altLang="en-US" sz="2050" b="1" dirty="0">
                <a:solidFill>
                  <a:srgbClr val="223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/ iPerf3</a:t>
            </a:r>
            <a:endParaRPr lang="ru-RU" sz="2050" dirty="0"/>
          </a:p>
        </p:txBody>
      </p:sp>
      <p:sp>
        <p:nvSpPr>
          <p:cNvPr id="13" name="Text 11"/>
          <p:cNvSpPr/>
          <p:nvPr/>
        </p:nvSpPr>
        <p:spPr>
          <a:xfrm>
            <a:off x="6492240" y="18013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altLang="en-US" sz="1500" dirty="0">
                <a:solidFill>
                  <a:srgbClr val="5162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Первый запуск</a:t>
            </a:r>
            <a:endParaRPr lang="ru-RU" sz="1500" dirty="0"/>
          </a:p>
        </p:txBody>
      </p:sp>
      <p:sp>
        <p:nvSpPr>
          <p:cNvPr id="14" name="Text 12"/>
          <p:cNvSpPr/>
          <p:nvPr/>
        </p:nvSpPr>
        <p:spPr>
          <a:xfrm>
            <a:off x="6492240" y="21945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2150" dirty="0">
                <a:solidFill>
                  <a:srgbClr val="223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9,97 Мбит/с</a:t>
            </a:r>
            <a:endParaRPr lang="ru-RU" sz="2150" dirty="0"/>
          </a:p>
        </p:txBody>
      </p:sp>
      <p:sp>
        <p:nvSpPr>
          <p:cNvPr id="15" name="Text 13"/>
          <p:cNvSpPr/>
          <p:nvPr/>
        </p:nvSpPr>
        <p:spPr>
          <a:xfrm>
            <a:off x="6492240" y="29718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altLang="en-US" sz="1500" dirty="0">
                <a:solidFill>
                  <a:srgbClr val="5162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Повторный запуск</a:t>
            </a:r>
            <a:endParaRPr lang="ru-RU" sz="1500" dirty="0"/>
          </a:p>
        </p:txBody>
      </p:sp>
      <p:sp>
        <p:nvSpPr>
          <p:cNvPr id="16" name="Text 14"/>
          <p:cNvSpPr/>
          <p:nvPr/>
        </p:nvSpPr>
        <p:spPr>
          <a:xfrm>
            <a:off x="6492240" y="336499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2150" dirty="0">
                <a:solidFill>
                  <a:srgbClr val="223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35,62 Мбит/с</a:t>
            </a:r>
            <a:endParaRPr lang="ru-RU" sz="2150" dirty="0"/>
          </a:p>
        </p:txBody>
      </p:sp>
      <p:sp>
        <p:nvSpPr>
          <p:cNvPr id="17" name="Text 15"/>
          <p:cNvSpPr/>
          <p:nvPr/>
        </p:nvSpPr>
        <p:spPr>
          <a:xfrm>
            <a:off x="1051560" y="510235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760" dirty="0">
                <a:solidFill>
                  <a:srgbClr val="5162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Процедура запуска воспроизводима. Численные результаты различаются.</a:t>
            </a:r>
            <a:endParaRPr lang="ru-RU" sz="1760" dirty="0"/>
          </a:p>
        </p:txBody>
      </p:sp>
      <p:sp>
        <p:nvSpPr>
          <p:cNvPr id="19" name="Text 16"/>
          <p:cNvSpPr/>
          <p:nvPr/>
        </p:nvSpPr>
        <p:spPr>
          <a:xfrm>
            <a:off x="11402568" y="6510528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ru-RU" altLang="en-US" sz="1080" dirty="0">
                <a:solidFill>
                  <a:srgbClr val="5162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33/34</a:t>
            </a:r>
            <a:endParaRPr lang="ru-RU" sz="108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66267"/>
          </a:xfrm>
          <a:prstGeom prst="rect">
            <a:avLst/>
          </a:prstGeom>
          <a:solidFill>
            <a:srgbClr val="22373A"/>
          </a:solidFill>
          <a:ln w="12700">
            <a:solidFill>
              <a:srgbClr val="2237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68096"/>
            <a:ext cx="1051560" cy="0"/>
          </a:xfrm>
          <a:prstGeom prst="line">
            <a:avLst/>
          </a:prstGeom>
          <a:noFill/>
          <a:ln w="14605">
            <a:solidFill>
              <a:srgbClr val="DE9B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" y="768096"/>
            <a:ext cx="11140440" cy="0"/>
          </a:xfrm>
          <a:prstGeom prst="line">
            <a:avLst/>
          </a:prstGeom>
          <a:noFill/>
          <a:ln w="5080">
            <a:solidFill>
              <a:srgbClr val="CCB9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83464" y="198425"/>
            <a:ext cx="11612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 лабораторной работы</a:t>
            </a:r>
            <a:endParaRPr lang="ru-RU" sz="1950" dirty="0"/>
          </a:p>
        </p:txBody>
      </p:sp>
      <p:sp>
        <p:nvSpPr>
          <p:cNvPr id="6" name="Shape 4"/>
          <p:cNvSpPr/>
          <p:nvPr/>
        </p:nvSpPr>
        <p:spPr>
          <a:xfrm>
            <a:off x="932688" y="1538935"/>
            <a:ext cx="76810" cy="76810"/>
          </a:xfrm>
          <a:prstGeom prst="ellipse">
            <a:avLst/>
          </a:prstGeom>
          <a:solidFill>
            <a:srgbClr val="DE9B5F"/>
          </a:solidFill>
          <a:ln w="12700">
            <a:solidFill>
              <a:srgbClr val="DE9B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16152" y="1399032"/>
            <a:ext cx="98755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900" dirty="0">
                <a:solidFill>
                  <a:srgbClr val="223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Построена топология Mininet через Python API</a:t>
            </a:r>
            <a:endParaRPr lang="ru-RU" sz="1900" dirty="0"/>
          </a:p>
        </p:txBody>
      </p:sp>
      <p:sp>
        <p:nvSpPr>
          <p:cNvPr id="8" name="Shape 6"/>
          <p:cNvSpPr/>
          <p:nvPr/>
        </p:nvSpPr>
        <p:spPr>
          <a:xfrm>
            <a:off x="932688" y="2233879"/>
            <a:ext cx="76810" cy="76810"/>
          </a:xfrm>
          <a:prstGeom prst="ellipse">
            <a:avLst/>
          </a:prstGeom>
          <a:solidFill>
            <a:srgbClr val="DE9B5F"/>
          </a:solidFill>
          <a:ln w="12700">
            <a:solidFill>
              <a:srgbClr val="DE9B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16152" y="2093976"/>
            <a:ext cx="98755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900" dirty="0">
                <a:solidFill>
                  <a:srgbClr val="223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Проверены сетевые адреса и связность хостов</a:t>
            </a:r>
            <a:endParaRPr lang="ru-RU" sz="1900" dirty="0"/>
          </a:p>
        </p:txBody>
      </p:sp>
      <p:sp>
        <p:nvSpPr>
          <p:cNvPr id="10" name="Shape 8"/>
          <p:cNvSpPr/>
          <p:nvPr/>
        </p:nvSpPr>
        <p:spPr>
          <a:xfrm>
            <a:off x="932688" y="2928823"/>
            <a:ext cx="76810" cy="76810"/>
          </a:xfrm>
          <a:prstGeom prst="ellipse">
            <a:avLst/>
          </a:prstGeom>
          <a:solidFill>
            <a:srgbClr val="DE9B5F"/>
          </a:solidFill>
          <a:ln w="12700">
            <a:solidFill>
              <a:srgbClr val="DE9B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16152" y="2788920"/>
            <a:ext cx="98755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900" dirty="0">
                <a:solidFill>
                  <a:srgbClr val="223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Смоделированы ограничения CPU, задержек и потерь</a:t>
            </a:r>
            <a:endParaRPr lang="ru-RU" sz="1900" dirty="0"/>
          </a:p>
        </p:txBody>
      </p:sp>
      <p:sp>
        <p:nvSpPr>
          <p:cNvPr id="12" name="Shape 10"/>
          <p:cNvSpPr/>
          <p:nvPr/>
        </p:nvSpPr>
        <p:spPr>
          <a:xfrm>
            <a:off x="932688" y="3623767"/>
            <a:ext cx="76810" cy="76810"/>
          </a:xfrm>
          <a:prstGeom prst="ellipse">
            <a:avLst/>
          </a:prstGeom>
          <a:solidFill>
            <a:srgbClr val="DE9B5F"/>
          </a:solidFill>
          <a:ln w="12700">
            <a:solidFill>
              <a:srgbClr val="DE9B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16152" y="3483864"/>
            <a:ext cx="98755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900" dirty="0">
                <a:solidFill>
                  <a:srgbClr val="223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Выполнены TCP-измерения iPerf3 и построены графики</a:t>
            </a:r>
            <a:endParaRPr lang="ru-RU" sz="1900" dirty="0"/>
          </a:p>
        </p:txBody>
      </p:sp>
      <p:sp>
        <p:nvSpPr>
          <p:cNvPr id="14" name="Shape 12"/>
          <p:cNvSpPr/>
          <p:nvPr/>
        </p:nvSpPr>
        <p:spPr>
          <a:xfrm>
            <a:off x="932688" y="4318711"/>
            <a:ext cx="76810" cy="76810"/>
          </a:xfrm>
          <a:prstGeom prst="ellipse">
            <a:avLst/>
          </a:prstGeom>
          <a:solidFill>
            <a:srgbClr val="DE9B5F"/>
          </a:solidFill>
          <a:ln w="12700">
            <a:solidFill>
              <a:srgbClr val="DE9B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16152" y="4178808"/>
            <a:ext cx="98755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900" dirty="0">
                <a:solidFill>
                  <a:srgbClr val="223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Проверен повторный автоматический запуск через GNU Make</a:t>
            </a:r>
            <a:endParaRPr lang="ru-RU" sz="1900" dirty="0"/>
          </a:p>
        </p:txBody>
      </p:sp>
      <p:sp>
        <p:nvSpPr>
          <p:cNvPr id="17" name="Text 14"/>
          <p:cNvSpPr/>
          <p:nvPr/>
        </p:nvSpPr>
        <p:spPr>
          <a:xfrm>
            <a:off x="11402568" y="6510528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ru-RU" altLang="en-US" sz="1080" dirty="0">
                <a:solidFill>
                  <a:srgbClr val="5162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34/34</a:t>
            </a:r>
            <a:endParaRPr lang="ru-RU" sz="10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mbri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Моделирование сетей передачи данных — лабораторная работа №3</dc:title>
  <dc:subject>Лабораторная работа №3: воспроизводимый эксперимент в Mininet и iPerf3</dc:subject>
  <dc:creator>Авдадаев Джамал Геланиевич</dc:creator>
  <cp:lastModifiedBy>Авдадаев Джамал Геланиевич</cp:lastModifiedBy>
  <cp:revision>1</cp:revision>
  <dcterms:created xsi:type="dcterms:W3CDTF">2026-10-10T17:07:21Z</dcterms:created>
  <dcterms:modified xsi:type="dcterms:W3CDTF">2026-10-10T17:07:21Z</dcterms:modified>
</cp:coreProperties>
</file>