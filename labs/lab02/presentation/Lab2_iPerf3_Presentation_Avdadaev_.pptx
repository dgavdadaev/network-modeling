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562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3960" y="2792315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Измерение и тестирование</a:t>
            </a:r>
            <a:endParaRPr lang="en-US" sz="2800" b="1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пропускной способности сети</a:t>
            </a:r>
            <a:endParaRPr lang="en-US" sz="2800" b="1" dirty="0"/>
          </a:p>
        </p:txBody>
      </p:sp>
      <p:sp>
        <p:nvSpPr>
          <p:cNvPr id="3" name="Shape 1"/>
          <p:cNvSpPr/>
          <p:nvPr/>
        </p:nvSpPr>
        <p:spPr>
          <a:xfrm>
            <a:off x="2735580" y="1563578"/>
            <a:ext cx="6720840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97247" y="645183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Лабораторная работа № 2</a:t>
            </a:r>
            <a:endParaRPr lang="en-US" sz="4000" b="1" dirty="0"/>
          </a:p>
        </p:txBody>
      </p:sp>
      <p:sp>
        <p:nvSpPr>
          <p:cNvPr id="5" name="Text 3"/>
          <p:cNvSpPr/>
          <p:nvPr/>
        </p:nvSpPr>
        <p:spPr>
          <a:xfrm>
            <a:off x="-2720572" y="5351549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8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Студент:</a:t>
            </a:r>
            <a:r>
              <a:rPr lang="en-US" sz="1800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Авдадаев</a:t>
            </a:r>
            <a:r>
              <a:rPr lang="en-US" sz="18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Джамал Геланиевич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-2331977" y="5080481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Российский университет дружбы народов, Москва, Россия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3757996" y="5759777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26 сентября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6895" y="-4341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Цели и задачи работы</a:t>
            </a:r>
            <a:endParaRPr lang="en-US" sz="34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2/18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3BE2F-1E6D-80D9-3F34-EDB5C15FDDAD}"/>
              </a:ext>
            </a:extLst>
          </p:cNvPr>
          <p:cNvSpPr txBox="1"/>
          <p:nvPr/>
        </p:nvSpPr>
        <p:spPr>
          <a:xfrm>
            <a:off x="99291" y="988429"/>
            <a:ext cx="40108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Цель</a:t>
            </a:r>
            <a:r>
              <a:rPr lang="en-US" sz="2400" b="1" dirty="0"/>
              <a:t> </a:t>
            </a:r>
            <a:r>
              <a:rPr lang="en-US" sz="2400" b="1" dirty="0" err="1"/>
              <a:t>работы</a:t>
            </a:r>
            <a:r>
              <a:rPr lang="en-US" sz="2400" b="1" dirty="0"/>
              <a:t>: </a:t>
            </a:r>
            <a:r>
              <a:rPr lang="en-US" sz="2400" dirty="0" err="1"/>
              <a:t>познакомиться</a:t>
            </a:r>
            <a:r>
              <a:rPr lang="en-US" sz="2400" dirty="0"/>
              <a:t> с </a:t>
            </a:r>
            <a:r>
              <a:rPr lang="en-US" sz="2400" dirty="0" err="1"/>
              <a:t>инструментом</a:t>
            </a:r>
            <a:r>
              <a:rPr lang="en-US" sz="2400" dirty="0"/>
              <a:t> iPerf3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измерения</a:t>
            </a:r>
            <a:r>
              <a:rPr lang="en-US" sz="2400" dirty="0"/>
              <a:t> </a:t>
            </a:r>
            <a:r>
              <a:rPr lang="en-US" sz="2400" dirty="0" err="1"/>
              <a:t>пропускной</a:t>
            </a:r>
            <a:r>
              <a:rPr lang="en-US" sz="2400" dirty="0"/>
              <a:t> </a:t>
            </a:r>
            <a:r>
              <a:rPr lang="en-US" sz="2400" dirty="0" err="1"/>
              <a:t>способности</a:t>
            </a:r>
            <a:r>
              <a:rPr lang="en-US" sz="2400" dirty="0"/>
              <a:t> </a:t>
            </a:r>
            <a:r>
              <a:rPr lang="en-US" sz="2400" dirty="0" err="1"/>
              <a:t>сети</a:t>
            </a:r>
            <a:r>
              <a:rPr lang="en-US" sz="2400" dirty="0"/>
              <a:t> в </a:t>
            </a:r>
            <a:r>
              <a:rPr lang="en-US" sz="2400" dirty="0" err="1"/>
              <a:t>режиме</a:t>
            </a:r>
            <a:r>
              <a:rPr lang="en-US" sz="2400" dirty="0"/>
              <a:t> </a:t>
            </a:r>
            <a:r>
              <a:rPr lang="en-US" sz="2400" dirty="0" err="1"/>
              <a:t>реального</a:t>
            </a:r>
            <a:r>
              <a:rPr lang="en-US" sz="2400" dirty="0"/>
              <a:t> </a:t>
            </a:r>
            <a:r>
              <a:rPr lang="en-US" sz="2400" dirty="0" err="1"/>
              <a:t>времени</a:t>
            </a:r>
            <a:r>
              <a:rPr lang="en-US" sz="2400" dirty="0"/>
              <a:t>, </a:t>
            </a:r>
            <a:r>
              <a:rPr lang="en-US" sz="2400" dirty="0" err="1"/>
              <a:t>провести</a:t>
            </a:r>
            <a:r>
              <a:rPr lang="en-US" sz="2400" dirty="0"/>
              <a:t> </a:t>
            </a:r>
            <a:r>
              <a:rPr lang="en-US" sz="2400" dirty="0" err="1"/>
              <a:t>интерактивные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эксперименты</a:t>
            </a:r>
            <a:r>
              <a:rPr lang="en-US" sz="2400" dirty="0"/>
              <a:t> в Mininet и </a:t>
            </a:r>
            <a:r>
              <a:rPr lang="en-US" sz="2400" dirty="0" err="1"/>
              <a:t>построить</a:t>
            </a:r>
            <a:r>
              <a:rPr lang="en-US" sz="2400" dirty="0"/>
              <a:t> </a:t>
            </a:r>
            <a:r>
              <a:rPr lang="en-US" sz="2400" dirty="0" err="1"/>
              <a:t>графики</a:t>
            </a:r>
            <a:r>
              <a:rPr lang="en-US" sz="2400" dirty="0"/>
              <a:t> </a:t>
            </a:r>
            <a:r>
              <a:rPr lang="en-US" sz="2400" dirty="0" err="1"/>
              <a:t>по</a:t>
            </a:r>
            <a:r>
              <a:rPr lang="en-US" sz="2400" dirty="0"/>
              <a:t> </a:t>
            </a:r>
            <a:r>
              <a:rPr lang="en-US" sz="2400" dirty="0" err="1"/>
              <a:t>результатам</a:t>
            </a:r>
            <a:r>
              <a:rPr lang="en-US" sz="2400" dirty="0"/>
              <a:t> </a:t>
            </a:r>
            <a:r>
              <a:rPr lang="en-US" sz="2400" dirty="0" err="1"/>
              <a:t>измерений</a:t>
            </a:r>
            <a:r>
              <a:rPr lang="en-US" sz="24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04CBEE-7E4E-4516-8593-B74A46D69EBA}"/>
              </a:ext>
            </a:extLst>
          </p:cNvPr>
          <p:cNvSpPr txBox="1"/>
          <p:nvPr/>
        </p:nvSpPr>
        <p:spPr>
          <a:xfrm>
            <a:off x="6114319" y="803763"/>
            <a:ext cx="55718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i="1" dirty="0"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Задача работы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научиться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измерять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пропускную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способность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моделируемой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сети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в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реальном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времени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;</a:t>
            </a:r>
            <a:endParaRPr lang="en-US" sz="24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получить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практику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запуска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клиент-серверных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тестов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iPerf3;</a:t>
            </a:r>
            <a:endParaRPr lang="en-US" sz="24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сравнить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режимы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TCP, UDP и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дополнительные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параметры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запуска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;</a:t>
            </a:r>
            <a:endParaRPr lang="en-US" sz="24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сформировать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данные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JSON и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построить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графики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результата</a:t>
            </a:r>
            <a:r>
              <a:rPr lang="en-US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.</a:t>
            </a:r>
            <a:endParaRPr lang="en-US" sz="24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D93331-A8FF-A24A-48AE-C16521DC5BDF}"/>
              </a:ext>
            </a:extLst>
          </p:cNvPr>
          <p:cNvSpPr txBox="1"/>
          <p:nvPr/>
        </p:nvSpPr>
        <p:spPr>
          <a:xfrm>
            <a:off x="206895" y="5429071"/>
            <a:ext cx="61283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</a:t>
            </a:r>
            <a:r>
              <a:rPr lang="en-US" sz="2400" b="1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: </a:t>
            </a:r>
            <a:r>
              <a:rPr lang="en-US" sz="2400" b="1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набор</a:t>
            </a:r>
            <a:r>
              <a:rPr lang="en-US" sz="2400" b="1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</a:t>
            </a:r>
            <a:r>
              <a:rPr lang="en-US" sz="2400" b="1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тестов</a:t>
            </a:r>
            <a:r>
              <a:rPr lang="en-US" sz="2400" b="1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, JSON-</a:t>
            </a:r>
            <a:r>
              <a:rPr lang="en-US" sz="2400" b="1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файл</a:t>
            </a:r>
            <a:r>
              <a:rPr lang="en-US" sz="2400" b="1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и PDF-</a:t>
            </a:r>
            <a:r>
              <a:rPr lang="en-US" sz="2400" b="1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графики</a:t>
            </a:r>
            <a:r>
              <a:rPr lang="en-US" sz="2400" b="1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throughput, </a:t>
            </a:r>
            <a:r>
              <a:rPr lang="en-US" sz="2400" b="1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cwnd</a:t>
            </a:r>
            <a:r>
              <a:rPr lang="en-US" sz="2400" b="1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, RTT, retransmits, MTU и bytes.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Объект, предмет и инструменты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4/18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79" y="844712"/>
            <a:ext cx="6892175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Объект исследования: моделируемая сеть Mininet из двух хостов и </a:t>
            </a:r>
            <a:r>
              <a:rPr lang="en-US" sz="2000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коммутатора</a:t>
            </a:r>
            <a:r>
              <a:rPr lang="en-US" sz="20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.</a:t>
            </a:r>
            <a:endParaRPr lang="ru-RU" sz="2000" dirty="0">
              <a:solidFill>
                <a:srgbClr val="515151"/>
              </a:solidFill>
              <a:latin typeface="Arial Narrow" pitchFamily="34" charset="0"/>
              <a:ea typeface="Arial Narrow" pitchFamily="34" charset="-122"/>
              <a:cs typeface="Arial Narrow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Предмет исследования: пропускная способность, jitter, потери датаграмм, повторные передачи TCP.</a:t>
            </a:r>
            <a:endParaRPr lang="ru-RU" sz="2000" dirty="0">
              <a:solidFill>
                <a:srgbClr val="515151"/>
              </a:solidFill>
              <a:latin typeface="Arial Narrow" pitchFamily="34" charset="0"/>
              <a:ea typeface="Arial Narrow" pitchFamily="34" charset="-122"/>
              <a:cs typeface="Arial Narrow" pitchFamily="34" charset="-12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Инструменты: Ubuntu Mininet VM, PuTTY, XLaunch, iPerf3, jq, gnuplot, evince, iperf3_plotter.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840480" y="3886200"/>
            <a:ext cx="1325880" cy="0"/>
          </a:xfrm>
          <a:prstGeom prst="line">
            <a:avLst/>
          </a:prstGeom>
          <a:noFill/>
          <a:ln w="254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0" y="3854196"/>
            <a:ext cx="1737360" cy="32004"/>
          </a:xfrm>
          <a:prstGeom prst="line">
            <a:avLst/>
          </a:prstGeom>
          <a:noFill/>
          <a:ln w="254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3310128"/>
            <a:ext cx="1417320" cy="11430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524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3584448"/>
            <a:ext cx="1234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10.0.0.1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66360" y="3310128"/>
            <a:ext cx="1417320" cy="11430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524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3584448"/>
            <a:ext cx="1234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83880" y="3310128"/>
            <a:ext cx="1417320" cy="11430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524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75320" y="3584448"/>
            <a:ext cx="1234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10.0.0.2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88920" y="46664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iperf3: клиент → сервер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91740" y="5516880"/>
            <a:ext cx="67665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Базовая схема эксперимента: h1 выступает клиентом, h2 — сервером iPerf3.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Ход выполнения работы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127248"/>
            <a:ext cx="2743200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5/18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Подготовка среды и установка ПО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53949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90" y="1024128"/>
            <a:ext cx="44831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1024128"/>
            <a:ext cx="53949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lab2_optimized/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091" y="1024128"/>
            <a:ext cx="4662043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3840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Проверка интерфейсов VM: eth0 и eth1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99632" y="3840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Установка iPerf3 и зависимостей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4983480"/>
            <a:ext cx="10835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На виртуальной машине проверены сетевые интерфейсы, обновлены репозитории и установлен iPerf3. Дополнительно установлены git, jq, gnuplot-nox и evince для обработки и визуализации данных.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Развёртывание iperf3_plotter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10835640" cy="34290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53" y="1051560"/>
            <a:ext cx="9776534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800600"/>
            <a:ext cx="108356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Репозиторий iperf3_plotter был склонирован во временный каталог, после чего скрипты были скопированы в /usr/bin. Для совместимости с методичкой использованы legacy-скрипты plot_iperf.sh и preprocessor.sh.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Запуск топологии Mininet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108356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662" y="960120"/>
            <a:ext cx="7943915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94960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Запуск topology single,2 с XTerm-окнами h1, h2, s1 и c0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Проверка топологии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10835640" cy="35661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367" y="1005840"/>
            <a:ext cx="9340505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937760"/>
            <a:ext cx="10149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h1 получил адрес 10.0.0.1;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h2 получил адрес 10.0.0.2;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оба канала h1–s1 и h2–s1 находятся в состоянии OK.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Базовый TCP-тест в отдельных терминалах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108356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493" y="914400"/>
            <a:ext cx="6846254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440680"/>
            <a:ext cx="108356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Результат: 27.9 GBytes за 10 секунд, средняя скорость 23.9 Gbit/s, Retr = 63.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806440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Клиент h1 подключается к серверу iPerf3 на h2 по адресу 10.0.0.2:5201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Эксперимент через CLI Mininet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11/18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108356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503" y="914400"/>
            <a:ext cx="8220234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440680"/>
            <a:ext cx="108356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Результат: 28.9 GBytes за 10 секунд, средняя скорость 24.8 Gbit/s, Retr = 0.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806440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Команды h2 iperf3 -s &amp; и h1 iperf3 -c h2 выполнены из приглашения mininet&gt;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Управление длительностью и интервалом отчёта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47376"/>
            <a:ext cx="5394960" cy="17288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lab2_optimized/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947376"/>
            <a:ext cx="5394960" cy="17288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Опция -t 5: тест длится 5 секунд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99632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Опция -i 2: отчёт выводится каждые 2 секунды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5166360"/>
            <a:ext cx="10835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Итоги: при -t 5 передано 11.7 GBytes со скоростью 20.1 Gbit/s; при -i 2 передано 22.6 GBytes со скоростью 19.4 Gbit/s.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Фиксированный объём и UDP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13/18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47376"/>
            <a:ext cx="5394960" cy="17288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lab2_optimized/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944012"/>
            <a:ext cx="5394960" cy="17355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Опция -n 16G: передача заданного объёма данных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99632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Опция -u: UDP, jitter и потери датаграмм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5166360"/>
            <a:ext cx="10835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TCP -n 16G: 16.0 GBytes за 7.24 секунды, 19.0 Gbit/s. UDP: 1.25 MBytes, 1.05 Mbit/s, jitter ≈ 0.049 ms, потери 0/906.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Порт 3250 и режим одного клиента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14/18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53074"/>
            <a:ext cx="5394960" cy="23174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lab2_optimized/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589169"/>
            <a:ext cx="5394960" cy="24452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Передача через нестандартный порт 3250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99632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Опция -1: сервер завершает работу после одного клиента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5166360"/>
            <a:ext cx="10835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Проверены дополнительные режимы сервера iPerf3: смена порта через -p и автоматическая остановка сервера после одного клиентского подключения через -1.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Экспорт JSON и построение графиков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067" y="960120"/>
            <a:ext cx="3941545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960120"/>
            <a:ext cx="53949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lab2_optimized/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246568"/>
            <a:ext cx="5394960" cy="11304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Экспорт результата iPerf3 в JSON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99632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Сформированы файлы 1.dat и PDF-графики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5166360"/>
            <a:ext cx="10835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Вывод в формате JSON был сохранён в iperf_results.json. На основе файла сгенерированы графики throughput, cwnd, retransmits, RTT, RTT_Var, MTU и bytes.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Визуализация результатов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16/18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6692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lab2_optimized/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9646"/>
            <a:ext cx="5669280" cy="25872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960120"/>
            <a:ext cx="507492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lab2_optimized/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561" y="960120"/>
            <a:ext cx="1896278" cy="2057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3337560"/>
            <a:ext cx="507492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/mnt/data/lab2_optimized/2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408" y="3337560"/>
            <a:ext cx="1912583" cy="2057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5687568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Основной график throughput показывает устойчивый уровень около 18–20 Gbit/s.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20363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127248"/>
            <a:ext cx="2743200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17/18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03638"/>
          </a:solidFill>
          <a:ln w="12700">
            <a:solidFill>
              <a:srgbClr val="203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12191695" cy="32004"/>
          </a:xfrm>
          <a:prstGeom prst="rect">
            <a:avLst/>
          </a:prstGeom>
          <a:solidFill>
            <a:srgbClr val="D58A29"/>
          </a:solidFill>
          <a:ln w="12700">
            <a:solidFill>
              <a:srgbClr val="D58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4630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bg1">
                    <a:lumMod val="85000"/>
                  </a:scheme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Итог лабораторной работы</a:t>
            </a:r>
            <a:endParaRPr lang="en-US" sz="22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09960" y="64648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8E8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18/18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106070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установлены iPerf3 и вспомогательные пакеты для обработки </a:t>
            </a:r>
            <a:r>
              <a:rPr lang="en-US" sz="2100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результатов</a:t>
            </a: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;</a:t>
            </a:r>
            <a:endParaRPr lang="ru-RU" sz="2100" dirty="0">
              <a:solidFill>
                <a:srgbClr val="515151"/>
              </a:solidFill>
              <a:latin typeface="Arial Narrow" pitchFamily="34" charset="0"/>
              <a:ea typeface="Arial Narrow" pitchFamily="34" charset="-122"/>
              <a:cs typeface="Arial Narrow" pitchFamily="34" charset="-120"/>
            </a:endParaRP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в Mininet запущена топология h1—s1—h2 с адресами 10.0.0.1 и 10.0.0.2;</a:t>
            </a:r>
            <a:endParaRPr lang="ru-RU" sz="2100" dirty="0">
              <a:solidFill>
                <a:srgbClr val="515151"/>
              </a:solidFill>
              <a:latin typeface="Arial Narrow" pitchFamily="34" charset="0"/>
              <a:ea typeface="Arial Narrow" pitchFamily="34" charset="-122"/>
              <a:cs typeface="Arial Narrow" pitchFamily="34" charset="-120"/>
            </a:endParaRP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проведены TCP-тесты в отдельных терминалах и через интерфейс Mininet;</a:t>
            </a:r>
            <a:endParaRPr lang="ru-RU" sz="2100" dirty="0">
              <a:solidFill>
                <a:srgbClr val="515151"/>
              </a:solidFill>
              <a:latin typeface="Arial Narrow" pitchFamily="34" charset="0"/>
              <a:ea typeface="Arial Narrow" pitchFamily="34" charset="-122"/>
              <a:cs typeface="Arial Narrow" pitchFamily="34" charset="-120"/>
            </a:endParaRP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проверены параметры -t, -i, -n, -u, -p и -1;</a:t>
            </a:r>
            <a:endParaRPr lang="ru-RU" sz="2100" dirty="0">
              <a:solidFill>
                <a:srgbClr val="515151"/>
              </a:solidFill>
              <a:latin typeface="Arial Narrow" pitchFamily="34" charset="0"/>
              <a:ea typeface="Arial Narrow" pitchFamily="34" charset="-122"/>
              <a:cs typeface="Arial Narrow" pitchFamily="34" charset="-120"/>
            </a:endParaRP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результаты экспортированы в JSON и преобразованы в </a:t>
            </a:r>
            <a:r>
              <a:rPr lang="en-US" sz="2100" dirty="0" err="1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графики</a:t>
            </a: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;</a:t>
            </a:r>
            <a:endParaRPr lang="ru-RU" sz="2100" dirty="0">
              <a:solidFill>
                <a:srgbClr val="515151"/>
              </a:solidFill>
              <a:latin typeface="Arial Narrow" pitchFamily="34" charset="0"/>
              <a:ea typeface="Arial Narrow" pitchFamily="34" charset="-122"/>
              <a:cs typeface="Arial Narrow" pitchFamily="34" charset="-120"/>
            </a:endParaRP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1515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• основной график throughput подтвердил стабильную пропускную способность порядка 18–20 Gbit/s.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Narr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748</Words>
  <Application>Microsoft Office PowerPoint</Application>
  <PresentationFormat>Widescreen</PresentationFormat>
  <Paragraphs>111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Arial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РУДН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Измерение и тестирование пропускной способности сети</dc:title>
  <dc:subject>Лабораторная работа №2. iPerf3 и Mininet</dc:subject>
  <dc:creator>Авдадаев Джамал Геланиевич</dc:creator>
  <cp:lastModifiedBy>Djamal Avdadaev</cp:lastModifiedBy>
  <cp:revision>3</cp:revision>
  <dcterms:created xsi:type="dcterms:W3CDTF">2026-09-26T18:51:47Z</dcterms:created>
  <dcterms:modified xsi:type="dcterms:W3CDTF">2026-09-26T19:12:19Z</dcterms:modified>
</cp:coreProperties>
</file>