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1"/>
  </p:sldMasterIdLst>
  <p:notesMasterIdLst>
    <p:notesMasterId r:id="rId17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205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49435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49620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3027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7709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A2CEDE-2AB4-4FB8-9551-E0AA4222B1A3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14430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44358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70283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20961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0950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034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6829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1719988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8181093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1196462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802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7445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7977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07278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22691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98984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AA3E-BE52-42BC-99E8-CCCB81A57ABD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8964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50969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79185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27681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317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7853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867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5621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ASE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4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7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502E0B6E-A72D-4319-3EF5-3A3D76095905}"/>
              </a:ext>
            </a:extLst>
          </p:cNvPr>
          <p:cNvSpPr/>
          <p:nvPr/>
        </p:nvSpPr>
        <p:spPr>
          <a:xfrm>
            <a:off x="83127" y="1999658"/>
            <a:ext cx="10881360" cy="0"/>
          </a:xfrm>
          <a:prstGeom prst="line">
            <a:avLst/>
          </a:prstGeom>
          <a:noFill/>
          <a:ln w="28575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E1741-F32F-2CAC-FF99-82CFE516573A}"/>
              </a:ext>
            </a:extLst>
          </p:cNvPr>
          <p:cNvSpPr txBox="1"/>
          <p:nvPr/>
        </p:nvSpPr>
        <p:spPr>
          <a:xfrm>
            <a:off x="185188" y="1231618"/>
            <a:ext cx="7610764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4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Л</a:t>
            </a:r>
            <a:r>
              <a:rPr lang="ru-RU" sz="4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абораторная</a:t>
            </a:r>
            <a:r>
              <a:rPr lang="en-US" sz="4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4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</a:t>
            </a:r>
            <a:r>
              <a:rPr lang="en-US" sz="4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№ 4</a:t>
            </a:r>
            <a:endParaRPr lang="en-US" sz="4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1343AA-5379-2050-1B76-43C576E9AE6D}"/>
              </a:ext>
            </a:extLst>
          </p:cNvPr>
          <p:cNvSpPr txBox="1"/>
          <p:nvPr/>
        </p:nvSpPr>
        <p:spPr>
          <a:xfrm>
            <a:off x="240146" y="462250"/>
            <a:ext cx="616989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8C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МОДЕЛИРОВАНИЕ СЕТЕЙ ПЕРЕДАЧИ ДАННЫХ  •  ЛАБОРАТОРНАЯ РАБОТА</a:t>
            </a:r>
            <a:endParaRPr lang="en-US" sz="10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93CE0-7132-EFB7-DEF2-5C34998F0B2F}"/>
              </a:ext>
            </a:extLst>
          </p:cNvPr>
          <p:cNvSpPr txBox="1"/>
          <p:nvPr/>
        </p:nvSpPr>
        <p:spPr>
          <a:xfrm>
            <a:off x="185188" y="2748621"/>
            <a:ext cx="10677237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ru-RU" sz="3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Эмуляция</a:t>
            </a:r>
            <a:r>
              <a:rPr lang="en-US" sz="3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ru-RU" sz="3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измерение</a:t>
            </a:r>
            <a:r>
              <a:rPr lang="en-US" sz="3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3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задержек в глобальных сетях</a:t>
            </a:r>
            <a:endParaRPr lang="en-US" sz="3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5199BE-9CB5-3D7A-3CEF-5B7E4F3F5CBC}"/>
              </a:ext>
            </a:extLst>
          </p:cNvPr>
          <p:cNvSpPr txBox="1"/>
          <p:nvPr/>
        </p:nvSpPr>
        <p:spPr>
          <a:xfrm>
            <a:off x="240146" y="4933830"/>
            <a:ext cx="61237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ru-RU" sz="22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Авдадаев</a:t>
            </a:r>
            <a:r>
              <a:rPr lang="en-US" sz="22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Джамал</a:t>
            </a:r>
            <a:r>
              <a:rPr lang="ru-RU" sz="22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Геланиевич</a:t>
            </a:r>
            <a:endParaRPr lang="en-US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84E45C-55B1-338C-BBB0-2CC383BFDB84}"/>
              </a:ext>
            </a:extLst>
          </p:cNvPr>
          <p:cNvSpPr txBox="1"/>
          <p:nvPr/>
        </p:nvSpPr>
        <p:spPr>
          <a:xfrm>
            <a:off x="240146" y="5434120"/>
            <a:ext cx="612370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ru-RU" sz="17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Дисциплина</a:t>
            </a:r>
            <a:r>
              <a:rPr lang="en-US" sz="17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r>
              <a:rPr lang="ru-RU" sz="17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Моделирование сетей передачи данных</a:t>
            </a:r>
            <a:endParaRPr lang="en-US" sz="1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9C5EEE-F9BB-DA0B-0F17-3B83DFCDDC62}"/>
              </a:ext>
            </a:extLst>
          </p:cNvPr>
          <p:cNvSpPr txBox="1"/>
          <p:nvPr/>
        </p:nvSpPr>
        <p:spPr>
          <a:xfrm>
            <a:off x="240146" y="6160709"/>
            <a:ext cx="61237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8B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Mininet · Linux NETEM · Python · </a:t>
            </a:r>
            <a:r>
              <a:rPr lang="en-US" sz="1500" dirty="0" err="1">
                <a:solidFill>
                  <a:srgbClr val="78B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Gnuplot</a:t>
            </a:r>
            <a:r>
              <a:rPr lang="en-US" sz="1500" dirty="0">
                <a:solidFill>
                  <a:srgbClr val="78B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Make</a:t>
            </a:r>
            <a:endParaRPr lang="en-US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950508-653A-9F69-B38F-2D77773AD741}"/>
              </a:ext>
            </a:extLst>
          </p:cNvPr>
          <p:cNvSpPr txBox="1"/>
          <p:nvPr/>
        </p:nvSpPr>
        <p:spPr>
          <a:xfrm>
            <a:off x="5523806" y="6395750"/>
            <a:ext cx="61237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E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ОКТЯБРЬ 2026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2851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92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экспериментальный подход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1417320"/>
            <a:ext cx="10881360" cy="0"/>
          </a:xfrm>
          <a:prstGeom prst="line">
            <a:avLst/>
          </a:prstGeom>
          <a:noFill/>
          <a:ln w="28575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048256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16152" y="1901952"/>
            <a:ext cx="100858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Проверить влияние искусственной задержки на RTT виртуальной сети.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960120" y="3072384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16152" y="2926080"/>
            <a:ext cx="100858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Исследовать изменение задержки, джиттер, корреляцию и нормальное распределение.</a:t>
            </a:r>
            <a:endParaRPr lang="en-US" sz="2150" dirty="0"/>
          </a:p>
        </p:txBody>
      </p:sp>
      <p:sp>
        <p:nvSpPr>
          <p:cNvPr id="9" name="Shape 7"/>
          <p:cNvSpPr/>
          <p:nvPr/>
        </p:nvSpPr>
        <p:spPr>
          <a:xfrm>
            <a:off x="960120" y="4096512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16152" y="3950208"/>
            <a:ext cx="100858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Автоматизировать запуск измерений, построение графиков и расчёт статистики.</a:t>
            </a:r>
            <a:endParaRPr lang="en-US" sz="2150" dirty="0"/>
          </a:p>
        </p:txBody>
      </p:sp>
      <p:sp>
        <p:nvSpPr>
          <p:cNvPr id="11" name="Shape 9"/>
          <p:cNvSpPr/>
          <p:nvPr/>
        </p:nvSpPr>
        <p:spPr>
          <a:xfrm>
            <a:off x="914400" y="5440680"/>
            <a:ext cx="10287000" cy="713232"/>
          </a:xfrm>
          <a:prstGeom prst="roundRect">
            <a:avLst>
              <a:gd name="adj" fmla="val 16667"/>
            </a:avLst>
          </a:prstGeom>
          <a:solidFill>
            <a:srgbClr val="E8F5F2"/>
          </a:solidFill>
          <a:ln w="10160">
            <a:solidFill>
              <a:srgbClr val="E8F5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" y="5440680"/>
            <a:ext cx="59436" cy="713232"/>
          </a:xfrm>
          <a:prstGeom prst="rect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33856" y="553212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i="1" dirty="0">
                <a:solidFill>
                  <a:srgbClr val="0E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Главное: сравниваются реальные измерения ping, а не только заданные параметры NETEM.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92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Топология виртуальной сети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1417320"/>
            <a:ext cx="10881360" cy="0"/>
          </a:xfrm>
          <a:prstGeom prst="line">
            <a:avLst/>
          </a:prstGeom>
          <a:noFill/>
          <a:ln w="28575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" y="1901952"/>
            <a:ext cx="1335024" cy="1069848"/>
          </a:xfrm>
          <a:prstGeom prst="roundRect">
            <a:avLst>
              <a:gd name="adj" fmla="val 11111"/>
            </a:avLst>
          </a:prstGeom>
          <a:solidFill>
            <a:srgbClr val="F1F6F8"/>
          </a:solidFill>
          <a:ln w="10160">
            <a:solidFill>
              <a:srgbClr val="D0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9264" y="203911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23544" y="25146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3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901952"/>
            <a:ext cx="1335024" cy="1069848"/>
          </a:xfrm>
          <a:prstGeom prst="roundRect">
            <a:avLst>
              <a:gd name="adj" fmla="val 11111"/>
            </a:avLst>
          </a:prstGeom>
          <a:solidFill>
            <a:srgbClr val="E6F5F3"/>
          </a:solidFill>
          <a:ln w="10160">
            <a:solidFill>
              <a:srgbClr val="91D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42032" y="203911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496312" y="25146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3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коммутатор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05072" y="1901952"/>
            <a:ext cx="1335024" cy="1069848"/>
          </a:xfrm>
          <a:prstGeom prst="roundRect">
            <a:avLst>
              <a:gd name="adj" fmla="val 11111"/>
            </a:avLst>
          </a:prstGeom>
          <a:solidFill>
            <a:srgbClr val="F1F6F8"/>
          </a:solidFill>
          <a:ln w="10160">
            <a:solidFill>
              <a:srgbClr val="D0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96512" y="203911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050792" y="25146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3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31136" y="2423160"/>
            <a:ext cx="192024" cy="0"/>
          </a:xfrm>
          <a:prstGeom prst="line">
            <a:avLst/>
          </a:prstGeom>
          <a:noFill/>
          <a:ln w="31750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94760" y="2423160"/>
            <a:ext cx="192024" cy="0"/>
          </a:xfrm>
          <a:prstGeom prst="line">
            <a:avLst/>
          </a:prstGeom>
          <a:noFill/>
          <a:ln w="31750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77824" y="3392424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33856" y="324612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коммутатор s1 и контроллер c0.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77824" y="4489704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33856" y="434340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NETEM действует на исходящий интерфейс; задержка на двух хостах складывается в RTT.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69280" y="1911096"/>
            <a:ext cx="5687568" cy="4206240"/>
          </a:xfrm>
          <a:prstGeom prst="roundRect">
            <a:avLst>
              <a:gd name="adj" fmla="val 2826"/>
            </a:avLst>
          </a:prstGeom>
          <a:solidFill>
            <a:srgbClr val="FFFFFF"/>
          </a:solidFill>
          <a:ln w="10160">
            <a:solidFill>
              <a:srgbClr val="DB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/mnt/data/Lab04_Presentation/image/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889" y="2066544"/>
            <a:ext cx="3590349" cy="35661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52160" y="5733288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Запущенная сеть Mininet и терминалы хостов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92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управляли задержкой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1417320"/>
            <a:ext cx="10881360" cy="0"/>
          </a:xfrm>
          <a:prstGeom prst="line">
            <a:avLst/>
          </a:prstGeom>
          <a:noFill/>
          <a:ln w="28575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" y="1810512"/>
            <a:ext cx="6400800" cy="960120"/>
          </a:xfrm>
          <a:prstGeom prst="roundRect">
            <a:avLst>
              <a:gd name="adj" fmla="val 12381"/>
            </a:avLst>
          </a:prstGeom>
          <a:solidFill>
            <a:srgbClr val="ECF3F5"/>
          </a:solidFill>
          <a:ln w="10160">
            <a:solidFill>
              <a:srgbClr val="ECF3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0704" y="192024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Назначить задержку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224028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40" dirty="0">
                <a:solidFill>
                  <a:srgbClr val="162A3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sudo tc qdisc add dev h1-eth0 root netem delay 100ms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850392" y="2907792"/>
            <a:ext cx="6400800" cy="960120"/>
          </a:xfrm>
          <a:prstGeom prst="roundRect">
            <a:avLst>
              <a:gd name="adj" fmla="val 12381"/>
            </a:avLst>
          </a:prstGeom>
          <a:solidFill>
            <a:srgbClr val="ECF3F5"/>
          </a:solidFill>
          <a:ln w="10160">
            <a:solidFill>
              <a:srgbClr val="ECF3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0704" y="30175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Изменить задержку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3272" y="333756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40" dirty="0">
                <a:solidFill>
                  <a:srgbClr val="162A3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sudo tc qdisc change dev h1-eth0 root netem delay 50ms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850392" y="4005072"/>
            <a:ext cx="6400800" cy="960120"/>
          </a:xfrm>
          <a:prstGeom prst="roundRect">
            <a:avLst>
              <a:gd name="adj" fmla="val 12381"/>
            </a:avLst>
          </a:prstGeom>
          <a:solidFill>
            <a:srgbClr val="ECF3F5"/>
          </a:solidFill>
          <a:ln w="10160">
            <a:solidFill>
              <a:srgbClr val="ECF3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0704" y="411480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Удалить правило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" y="443484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40" dirty="0">
                <a:solidFill>
                  <a:srgbClr val="162A3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sudo tc qdisc del dev h1-eth0 root netem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7543800" y="1828800"/>
            <a:ext cx="3813048" cy="4014216"/>
          </a:xfrm>
          <a:prstGeom prst="roundRect">
            <a:avLst>
              <a:gd name="adj" fmla="val 3118"/>
            </a:avLst>
          </a:prstGeom>
          <a:solidFill>
            <a:srgbClr val="FFFFFF"/>
          </a:solidFill>
          <a:ln w="10160">
            <a:solidFill>
              <a:srgbClr val="DB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/mnt/data/Lab04_Presentation/image/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008853"/>
            <a:ext cx="3538728" cy="132492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726680" y="545896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RTT после добавления задержки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850392" y="5449824"/>
            <a:ext cx="6400800" cy="621792"/>
          </a:xfrm>
          <a:prstGeom prst="roundRect">
            <a:avLst>
              <a:gd name="adj" fmla="val 19118"/>
            </a:avLst>
          </a:prstGeom>
          <a:solidFill>
            <a:srgbClr val="E8F5F2"/>
          </a:solidFill>
          <a:ln w="10160">
            <a:solidFill>
              <a:srgbClr val="E8F5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50392" y="5449824"/>
            <a:ext cx="59436" cy="621792"/>
          </a:xfrm>
          <a:prstGeom prst="rect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69848" y="5541264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20" i="1" dirty="0">
                <a:solidFill>
                  <a:srgbClr val="0E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— назначить задержку; change — изменить; del — удалить правило. Измерение после изменения параметров выполнялось командой ping.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92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Постоянная задержка меняет RTT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1417320"/>
            <a:ext cx="10881360" cy="0"/>
          </a:xfrm>
          <a:prstGeom prst="line">
            <a:avLst/>
          </a:prstGeom>
          <a:noFill/>
          <a:ln w="28575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" y="197510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7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NETEM</a:t>
            </a:r>
            <a:endParaRPr lang="en-US" sz="1770" dirty="0"/>
          </a:p>
        </p:txBody>
      </p:sp>
      <p:sp>
        <p:nvSpPr>
          <p:cNvPr id="6" name="Shape 4"/>
          <p:cNvSpPr/>
          <p:nvPr/>
        </p:nvSpPr>
        <p:spPr>
          <a:xfrm>
            <a:off x="3904488" y="1975104"/>
            <a:ext cx="6400800" cy="329184"/>
          </a:xfrm>
          <a:prstGeom prst="roundRect">
            <a:avLst>
              <a:gd name="adj" fmla="val 36111"/>
            </a:avLst>
          </a:prstGeom>
          <a:solidFill>
            <a:srgbClr val="E5EEF1"/>
          </a:solidFill>
          <a:ln w="10160">
            <a:solidFill>
              <a:srgbClr val="E5EE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904488" y="1975104"/>
            <a:ext cx="32004" cy="329184"/>
          </a:xfrm>
          <a:prstGeom prst="roundRect">
            <a:avLst>
              <a:gd name="adj" fmla="val 371429"/>
            </a:avLst>
          </a:prstGeom>
          <a:solidFill>
            <a:srgbClr val="009E96"/>
          </a:solidFill>
          <a:ln w="1016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88168" y="1947672"/>
            <a:ext cx="987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0,442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3816" y="279806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7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мс на h1</a:t>
            </a:r>
            <a:endParaRPr lang="en-US" sz="1770" dirty="0"/>
          </a:p>
        </p:txBody>
      </p:sp>
      <p:sp>
        <p:nvSpPr>
          <p:cNvPr id="10" name="Shape 8"/>
          <p:cNvSpPr/>
          <p:nvPr/>
        </p:nvSpPr>
        <p:spPr>
          <a:xfrm>
            <a:off x="3904488" y="2798064"/>
            <a:ext cx="6400800" cy="329184"/>
          </a:xfrm>
          <a:prstGeom prst="roundRect">
            <a:avLst>
              <a:gd name="adj" fmla="val 36111"/>
            </a:avLst>
          </a:prstGeom>
          <a:solidFill>
            <a:srgbClr val="E5EEF1"/>
          </a:solidFill>
          <a:ln w="10160">
            <a:solidFill>
              <a:srgbClr val="E5EE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04488" y="2798064"/>
            <a:ext cx="3206350" cy="329184"/>
          </a:xfrm>
          <a:prstGeom prst="roundRect">
            <a:avLst>
              <a:gd name="adj" fmla="val 36111"/>
            </a:avLst>
          </a:prstGeom>
          <a:solidFill>
            <a:srgbClr val="256D91"/>
          </a:solidFill>
          <a:ln w="10160">
            <a:solidFill>
              <a:srgbClr val="256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88168" y="2770632"/>
            <a:ext cx="987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102,922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3816" y="362102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7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мс на h1 и h2</a:t>
            </a:r>
            <a:endParaRPr lang="en-US" sz="1770" dirty="0"/>
          </a:p>
        </p:txBody>
      </p:sp>
      <p:sp>
        <p:nvSpPr>
          <p:cNvPr id="14" name="Shape 12"/>
          <p:cNvSpPr/>
          <p:nvPr/>
        </p:nvSpPr>
        <p:spPr>
          <a:xfrm>
            <a:off x="3904488" y="3621024"/>
            <a:ext cx="6400800" cy="329184"/>
          </a:xfrm>
          <a:prstGeom prst="roundRect">
            <a:avLst>
              <a:gd name="adj" fmla="val 36111"/>
            </a:avLst>
          </a:prstGeom>
          <a:solidFill>
            <a:srgbClr val="E5EEF1"/>
          </a:solidFill>
          <a:ln w="10160">
            <a:solidFill>
              <a:srgbClr val="E5EE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904488" y="3621024"/>
            <a:ext cx="6400800" cy="329184"/>
          </a:xfrm>
          <a:prstGeom prst="roundRect">
            <a:avLst>
              <a:gd name="adj" fmla="val 36111"/>
            </a:avLst>
          </a:prstGeom>
          <a:solidFill>
            <a:srgbClr val="009E96"/>
          </a:solidFill>
          <a:ln w="1016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88168" y="3593592"/>
            <a:ext cx="987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205,462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3816" y="444398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7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мс на h1 и h2</a:t>
            </a:r>
            <a:endParaRPr lang="en-US" sz="1770" dirty="0"/>
          </a:p>
        </p:txBody>
      </p:sp>
      <p:sp>
        <p:nvSpPr>
          <p:cNvPr id="18" name="Shape 16"/>
          <p:cNvSpPr/>
          <p:nvPr/>
        </p:nvSpPr>
        <p:spPr>
          <a:xfrm>
            <a:off x="3904488" y="4443984"/>
            <a:ext cx="6400800" cy="329184"/>
          </a:xfrm>
          <a:prstGeom prst="roundRect">
            <a:avLst>
              <a:gd name="adj" fmla="val 36111"/>
            </a:avLst>
          </a:prstGeom>
          <a:solidFill>
            <a:srgbClr val="E5EEF1"/>
          </a:solidFill>
          <a:ln w="10160">
            <a:solidFill>
              <a:srgbClr val="E5EE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04488" y="4443984"/>
            <a:ext cx="3575111" cy="329184"/>
          </a:xfrm>
          <a:prstGeom prst="roundRect">
            <a:avLst>
              <a:gd name="adj" fmla="val 36111"/>
            </a:avLst>
          </a:prstGeom>
          <a:solidFill>
            <a:srgbClr val="256D91"/>
          </a:solidFill>
          <a:ln w="10160">
            <a:solidFill>
              <a:srgbClr val="256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488168" y="4416552"/>
            <a:ext cx="987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114,759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" y="5596128"/>
            <a:ext cx="10515600" cy="640080"/>
          </a:xfrm>
          <a:prstGeom prst="roundRect">
            <a:avLst>
              <a:gd name="adj" fmla="val 18571"/>
            </a:avLst>
          </a:prstGeom>
          <a:solidFill>
            <a:srgbClr val="E8F5F2"/>
          </a:solidFill>
          <a:ln w="10160">
            <a:solidFill>
              <a:srgbClr val="E8F5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8680" y="5596128"/>
            <a:ext cx="59436" cy="640080"/>
          </a:xfrm>
          <a:prstGeom prst="rect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88136" y="5687568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i="1" dirty="0">
                <a:solidFill>
                  <a:srgbClr val="0E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 задержке 100 мс на обоих исходящих интерфейсах RTT приблизился к 200 мс.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92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Интерактивные опыты со случайной задержкой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1417320"/>
            <a:ext cx="10881360" cy="0"/>
          </a:xfrm>
          <a:prstGeom prst="line">
            <a:avLst/>
          </a:prstGeom>
          <a:noFill/>
          <a:ln w="28575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10515600" cy="859536"/>
          </a:xfrm>
          <a:prstGeom prst="roundRect">
            <a:avLst>
              <a:gd name="adj" fmla="val 13830"/>
            </a:avLst>
          </a:prstGeom>
          <a:solidFill>
            <a:srgbClr val="EAF2F5"/>
          </a:solidFill>
          <a:ln w="10160">
            <a:solidFill>
              <a:srgbClr val="EAF2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38267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61204" y="1993392"/>
            <a:ext cx="161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ответов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54012" y="1993392"/>
            <a:ext cx="21442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RTT, мс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72600" y="1993392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mdev, мс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0976" y="2798064"/>
            <a:ext cx="38541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6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мс, джиттер 10 мс</a:t>
            </a:r>
            <a:endParaRPr lang="en-US" sz="1660" dirty="0"/>
          </a:p>
        </p:txBody>
      </p:sp>
      <p:sp>
        <p:nvSpPr>
          <p:cNvPr id="11" name="Text 9"/>
          <p:cNvSpPr/>
          <p:nvPr/>
        </p:nvSpPr>
        <p:spPr>
          <a:xfrm>
            <a:off x="5052060" y="2798064"/>
            <a:ext cx="1645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60" dirty="0"/>
          </a:p>
        </p:txBody>
      </p:sp>
      <p:sp>
        <p:nvSpPr>
          <p:cNvPr id="12" name="Text 10"/>
          <p:cNvSpPr/>
          <p:nvPr/>
        </p:nvSpPr>
        <p:spPr>
          <a:xfrm>
            <a:off x="6944868" y="2798064"/>
            <a:ext cx="21717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98.608</a:t>
            </a:r>
            <a:endParaRPr lang="en-US" sz="1660" dirty="0"/>
          </a:p>
        </p:txBody>
      </p:sp>
      <p:sp>
        <p:nvSpPr>
          <p:cNvPr id="13" name="Text 11"/>
          <p:cNvSpPr/>
          <p:nvPr/>
        </p:nvSpPr>
        <p:spPr>
          <a:xfrm>
            <a:off x="9363456" y="2798064"/>
            <a:ext cx="18562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6.187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10515600" cy="813816"/>
          </a:xfrm>
          <a:prstGeom prst="rect">
            <a:avLst/>
          </a:prstGeom>
          <a:solidFill>
            <a:srgbClr val="F2F7F8"/>
          </a:solidFill>
          <a:ln w="12700">
            <a:solidFill>
              <a:srgbClr val="F2F7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50976" y="3611880"/>
            <a:ext cx="38541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6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Корреляция 25 %</a:t>
            </a:r>
            <a:endParaRPr lang="en-US" sz="1660" dirty="0"/>
          </a:p>
        </p:txBody>
      </p:sp>
      <p:sp>
        <p:nvSpPr>
          <p:cNvPr id="16" name="Text 14"/>
          <p:cNvSpPr/>
          <p:nvPr/>
        </p:nvSpPr>
        <p:spPr>
          <a:xfrm>
            <a:off x="5052060" y="3611880"/>
            <a:ext cx="1645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660" dirty="0"/>
          </a:p>
        </p:txBody>
      </p:sp>
      <p:sp>
        <p:nvSpPr>
          <p:cNvPr id="17" name="Text 15"/>
          <p:cNvSpPr/>
          <p:nvPr/>
        </p:nvSpPr>
        <p:spPr>
          <a:xfrm>
            <a:off x="6944868" y="3611880"/>
            <a:ext cx="21717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114.183</a:t>
            </a:r>
            <a:endParaRPr lang="en-US" sz="1660" dirty="0"/>
          </a:p>
        </p:txBody>
      </p:sp>
      <p:sp>
        <p:nvSpPr>
          <p:cNvPr id="18" name="Text 16"/>
          <p:cNvSpPr/>
          <p:nvPr/>
        </p:nvSpPr>
        <p:spPr>
          <a:xfrm>
            <a:off x="9363456" y="3611880"/>
            <a:ext cx="18562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24.646</a:t>
            </a:r>
            <a:endParaRPr lang="en-US" sz="1660" dirty="0"/>
          </a:p>
        </p:txBody>
      </p:sp>
      <p:sp>
        <p:nvSpPr>
          <p:cNvPr id="19" name="Text 17"/>
          <p:cNvSpPr/>
          <p:nvPr/>
        </p:nvSpPr>
        <p:spPr>
          <a:xfrm>
            <a:off x="950976" y="4425696"/>
            <a:ext cx="38541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6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Нормальное распределение</a:t>
            </a:r>
            <a:endParaRPr lang="en-US" sz="1660" dirty="0"/>
          </a:p>
        </p:txBody>
      </p:sp>
      <p:sp>
        <p:nvSpPr>
          <p:cNvPr id="20" name="Text 18"/>
          <p:cNvSpPr/>
          <p:nvPr/>
        </p:nvSpPr>
        <p:spPr>
          <a:xfrm>
            <a:off x="5052060" y="4425696"/>
            <a:ext cx="1645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60" dirty="0"/>
          </a:p>
        </p:txBody>
      </p:sp>
      <p:sp>
        <p:nvSpPr>
          <p:cNvPr id="21" name="Text 19"/>
          <p:cNvSpPr/>
          <p:nvPr/>
        </p:nvSpPr>
        <p:spPr>
          <a:xfrm>
            <a:off x="6944868" y="4425696"/>
            <a:ext cx="21717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109.870</a:t>
            </a:r>
            <a:endParaRPr lang="en-US" sz="1660" dirty="0"/>
          </a:p>
        </p:txBody>
      </p:sp>
      <p:sp>
        <p:nvSpPr>
          <p:cNvPr id="22" name="Text 20"/>
          <p:cNvSpPr/>
          <p:nvPr/>
        </p:nvSpPr>
        <p:spPr>
          <a:xfrm>
            <a:off x="9363456" y="4425696"/>
            <a:ext cx="18562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6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20.757</a:t>
            </a:r>
            <a:endParaRPr lang="en-US" sz="1660" dirty="0"/>
          </a:p>
        </p:txBody>
      </p:sp>
      <p:sp>
        <p:nvSpPr>
          <p:cNvPr id="23" name="Shape 21"/>
          <p:cNvSpPr/>
          <p:nvPr/>
        </p:nvSpPr>
        <p:spPr>
          <a:xfrm>
            <a:off x="868680" y="5486400"/>
            <a:ext cx="10561320" cy="850392"/>
          </a:xfrm>
          <a:prstGeom prst="roundRect">
            <a:avLst>
              <a:gd name="adj" fmla="val 13978"/>
            </a:avLst>
          </a:prstGeom>
          <a:solidFill>
            <a:srgbClr val="E8F5F2"/>
          </a:solidFill>
          <a:ln w="10160">
            <a:solidFill>
              <a:srgbClr val="E8F5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8680" y="5486400"/>
            <a:ext cx="59436" cy="850392"/>
          </a:xfrm>
          <a:prstGeom prst="rect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88136" y="5577840"/>
            <a:ext cx="10149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i="1" dirty="0">
                <a:solidFill>
                  <a:srgbClr val="0E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 всех показанных сериях потери ICMP-пакетов составили 0 %. Коэффициент корреляции задан в NETEM, но не вычислен из серии RTT.</a:t>
            </a:r>
            <a:endParaRPr lang="en-US" sz="16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92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ручного опыта к воспроизводимому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1417320"/>
            <a:ext cx="10881360" cy="0"/>
          </a:xfrm>
          <a:prstGeom prst="line">
            <a:avLst/>
          </a:prstGeom>
          <a:noFill/>
          <a:ln w="28575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801368"/>
            <a:ext cx="2112264" cy="914400"/>
          </a:xfrm>
          <a:prstGeom prst="roundRect">
            <a:avLst>
              <a:gd name="adj" fmla="val 13000"/>
            </a:avLst>
          </a:prstGeom>
          <a:solidFill>
            <a:srgbClr val="E5F5F1"/>
          </a:solidFill>
          <a:ln w="10160">
            <a:solidFill>
              <a:srgbClr val="E5F5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20665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Mininet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898648" y="2093976"/>
            <a:ext cx="173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90672" y="1801368"/>
            <a:ext cx="2112264" cy="914400"/>
          </a:xfrm>
          <a:prstGeom prst="roundRect">
            <a:avLst>
              <a:gd name="adj" fmla="val 13000"/>
            </a:avLst>
          </a:prstGeom>
          <a:solidFill>
            <a:srgbClr val="E9F0F3"/>
          </a:solidFill>
          <a:ln w="10160">
            <a:solidFill>
              <a:srgbClr val="E9F0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36392" y="20665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NETEM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39512" y="2093976"/>
            <a:ext cx="173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31536" y="1801368"/>
            <a:ext cx="2112264" cy="914400"/>
          </a:xfrm>
          <a:prstGeom prst="roundRect">
            <a:avLst>
              <a:gd name="adj" fmla="val 13000"/>
            </a:avLst>
          </a:prstGeom>
          <a:solidFill>
            <a:srgbClr val="E5F5F1"/>
          </a:solidFill>
          <a:ln w="10160">
            <a:solidFill>
              <a:srgbClr val="E5F5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77256" y="20665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× ping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580376" y="2093976"/>
            <a:ext cx="173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0" y="1801368"/>
            <a:ext cx="2112264" cy="914400"/>
          </a:xfrm>
          <a:prstGeom prst="roundRect">
            <a:avLst>
              <a:gd name="adj" fmla="val 13000"/>
            </a:avLst>
          </a:prstGeom>
          <a:solidFill>
            <a:srgbClr val="E9F0F3"/>
          </a:solidFill>
          <a:ln w="10160">
            <a:solidFill>
              <a:srgbClr val="E9F0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8120" y="20665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Gnuplot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921240" y="2093976"/>
            <a:ext cx="173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113264" y="1801368"/>
            <a:ext cx="2112264" cy="914400"/>
          </a:xfrm>
          <a:prstGeom prst="roundRect">
            <a:avLst>
              <a:gd name="adj" fmla="val 13000"/>
            </a:avLst>
          </a:prstGeom>
          <a:solidFill>
            <a:srgbClr val="E5F5F1"/>
          </a:solidFill>
          <a:ln w="10160">
            <a:solidFill>
              <a:srgbClr val="E5F5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158984" y="20665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868680" y="3154680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24712" y="3008376"/>
            <a:ext cx="5422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ping -c 100 формирует серию RTT в ping.dat.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8680" y="3959352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24712" y="3813048"/>
            <a:ext cx="5422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Gnuplot строит ping.png.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4764024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24712" y="4617720"/>
            <a:ext cx="5422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ping_stats.py вычисляет min, avg, max и стандартное отклонение.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39128" y="2871216"/>
            <a:ext cx="4572000" cy="3255264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10160">
            <a:solidFill>
              <a:srgbClr val="DB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/mnt/data/Lab04_Presentation/image/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911" y="3026664"/>
            <a:ext cx="3754433" cy="261518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922008" y="5742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выполнение эксперимента командой make</a:t>
            </a:r>
            <a:endParaRPr lang="en-US" sz="10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92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simple-delay: постоянная задержка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1417320"/>
            <a:ext cx="10881360" cy="0"/>
          </a:xfrm>
          <a:prstGeom prst="line">
            <a:avLst/>
          </a:prstGeom>
          <a:noFill/>
          <a:ln w="28575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2104" y="1773936"/>
            <a:ext cx="6574536" cy="4352544"/>
          </a:xfrm>
          <a:prstGeom prst="roundRect">
            <a:avLst>
              <a:gd name="adj" fmla="val 2731"/>
            </a:avLst>
          </a:prstGeom>
          <a:solidFill>
            <a:srgbClr val="FFFFFF"/>
          </a:solidFill>
          <a:ln w="10160">
            <a:solidFill>
              <a:srgbClr val="DB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ab04_Presentation/image/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225" y="1929384"/>
            <a:ext cx="4682293" cy="3712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4984" y="5742432"/>
            <a:ext cx="6208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RTT без первого измерения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7644384" y="1828800"/>
            <a:ext cx="3785616" cy="685800"/>
          </a:xfrm>
          <a:prstGeom prst="roundRect">
            <a:avLst>
              <a:gd name="adj" fmla="val 17333"/>
            </a:avLst>
          </a:prstGeom>
          <a:solidFill>
            <a:srgbClr val="EAF2F5"/>
          </a:solidFill>
          <a:ln w="10160">
            <a:solidFill>
              <a:srgbClr val="EAF2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81544" y="1929384"/>
            <a:ext cx="17320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1480" dirty="0"/>
          </a:p>
        </p:txBody>
      </p:sp>
      <p:sp>
        <p:nvSpPr>
          <p:cNvPr id="10" name="Text 7"/>
          <p:cNvSpPr/>
          <p:nvPr/>
        </p:nvSpPr>
        <p:spPr>
          <a:xfrm>
            <a:off x="9787920" y="1929384"/>
            <a:ext cx="1504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</a:t>
            </a:r>
            <a:endParaRPr lang="en-US" sz="1480" dirty="0"/>
          </a:p>
        </p:txBody>
      </p:sp>
      <p:sp>
        <p:nvSpPr>
          <p:cNvPr id="11" name="Text 8"/>
          <p:cNvSpPr/>
          <p:nvPr/>
        </p:nvSpPr>
        <p:spPr>
          <a:xfrm>
            <a:off x="7772400" y="2560320"/>
            <a:ext cx="1759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Средний RTT</a:t>
            </a:r>
            <a:endParaRPr lang="en-US" sz="1480" dirty="0"/>
          </a:p>
        </p:txBody>
      </p:sp>
      <p:sp>
        <p:nvSpPr>
          <p:cNvPr id="12" name="Text 9"/>
          <p:cNvSpPr/>
          <p:nvPr/>
        </p:nvSpPr>
        <p:spPr>
          <a:xfrm>
            <a:off x="9778776" y="2560320"/>
            <a:ext cx="153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211.838 мс</a:t>
            </a:r>
            <a:endParaRPr lang="en-US" sz="1480" dirty="0"/>
          </a:p>
        </p:txBody>
      </p:sp>
      <p:sp>
        <p:nvSpPr>
          <p:cNvPr id="13" name="Shape 10"/>
          <p:cNvSpPr/>
          <p:nvPr/>
        </p:nvSpPr>
        <p:spPr>
          <a:xfrm>
            <a:off x="7644384" y="3154680"/>
            <a:ext cx="3785616" cy="640080"/>
          </a:xfrm>
          <a:prstGeom prst="rect">
            <a:avLst/>
          </a:prstGeom>
          <a:solidFill>
            <a:srgbClr val="F2F7F8"/>
          </a:solidFill>
          <a:ln w="12700">
            <a:solidFill>
              <a:srgbClr val="F2F7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0" y="3200400"/>
            <a:ext cx="1759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Мин. / макс.</a:t>
            </a:r>
            <a:endParaRPr lang="en-US" sz="1480" dirty="0"/>
          </a:p>
        </p:txBody>
      </p:sp>
      <p:sp>
        <p:nvSpPr>
          <p:cNvPr id="15" name="Text 12"/>
          <p:cNvSpPr/>
          <p:nvPr/>
        </p:nvSpPr>
        <p:spPr>
          <a:xfrm>
            <a:off x="9778776" y="3200400"/>
            <a:ext cx="153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 / 304 мс</a:t>
            </a:r>
            <a:endParaRPr lang="en-US" sz="1480" dirty="0"/>
          </a:p>
        </p:txBody>
      </p:sp>
      <p:sp>
        <p:nvSpPr>
          <p:cNvPr id="16" name="Text 13"/>
          <p:cNvSpPr/>
          <p:nvPr/>
        </p:nvSpPr>
        <p:spPr>
          <a:xfrm>
            <a:off x="7772400" y="3840480"/>
            <a:ext cx="1759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Ст. отклонение</a:t>
            </a:r>
            <a:endParaRPr lang="en-US" sz="1480" dirty="0"/>
          </a:p>
        </p:txBody>
      </p:sp>
      <p:sp>
        <p:nvSpPr>
          <p:cNvPr id="17" name="Text 14"/>
          <p:cNvSpPr/>
          <p:nvPr/>
        </p:nvSpPr>
        <p:spPr>
          <a:xfrm>
            <a:off x="9778776" y="3840480"/>
            <a:ext cx="153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16.522 мс</a:t>
            </a:r>
            <a:endParaRPr lang="en-US" sz="1480" dirty="0"/>
          </a:p>
        </p:txBody>
      </p:sp>
      <p:sp>
        <p:nvSpPr>
          <p:cNvPr id="18" name="Shape 15"/>
          <p:cNvSpPr/>
          <p:nvPr/>
        </p:nvSpPr>
        <p:spPr>
          <a:xfrm>
            <a:off x="7644384" y="4782312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900416" y="4636008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мс на h1 и 100 мс на h2.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7644384" y="5266944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900416" y="5120640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Первый выброс исключён по заданию методички.</a:t>
            </a:r>
            <a:endParaRPr lang="en-US" sz="1280" dirty="0"/>
          </a:p>
        </p:txBody>
      </p:sp>
      <p:sp>
        <p:nvSpPr>
          <p:cNvPr id="22" name="Shape 19"/>
          <p:cNvSpPr/>
          <p:nvPr/>
        </p:nvSpPr>
        <p:spPr>
          <a:xfrm>
            <a:off x="7644384" y="5751576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900416" y="5605272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удаления первого значения осталось 99 измерений.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92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change-delay: сравнение двух режимов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1417320"/>
            <a:ext cx="10881360" cy="0"/>
          </a:xfrm>
          <a:prstGeom prst="line">
            <a:avLst/>
          </a:prstGeom>
          <a:noFill/>
          <a:ln w="28575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3816" y="1819656"/>
            <a:ext cx="507492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10160">
            <a:solidFill>
              <a:srgbClr val="DB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3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RTT — 100 мс / хост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87552" y="22677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215.960 мс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13816" y="3054096"/>
            <a:ext cx="507492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10160">
            <a:solidFill>
              <a:srgbClr val="DB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7552" y="3154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3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RTT — 50 мс / хост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87552" y="35021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56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109.640 мс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190488" y="1792224"/>
            <a:ext cx="5148072" cy="4224528"/>
          </a:xfrm>
          <a:prstGeom prst="roundRect">
            <a:avLst>
              <a:gd name="adj" fmla="val 2814"/>
            </a:avLst>
          </a:prstGeom>
          <a:solidFill>
            <a:srgbClr val="FFFFFF"/>
          </a:solidFill>
          <a:ln w="10160">
            <a:solidFill>
              <a:srgbClr val="DB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Lab04_Presentation/image/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428709"/>
            <a:ext cx="4873752" cy="262237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373368" y="5632704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двух серий change-delay и расчёт статистики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813816" y="4690872"/>
            <a:ext cx="5074920" cy="1280160"/>
          </a:xfrm>
          <a:prstGeom prst="roundRect">
            <a:avLst>
              <a:gd name="adj" fmla="val 9286"/>
            </a:avLst>
          </a:prstGeom>
          <a:solidFill>
            <a:srgbClr val="E8F5F2"/>
          </a:solidFill>
          <a:ln w="10160">
            <a:solidFill>
              <a:srgbClr val="E8F5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13816" y="4690872"/>
            <a:ext cx="59436" cy="1280160"/>
          </a:xfrm>
          <a:prstGeom prst="rect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33272" y="478231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i="1" dirty="0">
                <a:solidFill>
                  <a:srgbClr val="0E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 уменьшении задержки на каждом хосте вдвое средний RTT сократился с 215,96 до 109,64 мс.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92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jitter-delay: дрожание задержки 10 мс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1417320"/>
            <a:ext cx="10881360" cy="0"/>
          </a:xfrm>
          <a:prstGeom prst="line">
            <a:avLst/>
          </a:prstGeom>
          <a:noFill/>
          <a:ln w="28575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2104" y="1773936"/>
            <a:ext cx="6574536" cy="4352544"/>
          </a:xfrm>
          <a:prstGeom prst="roundRect">
            <a:avLst>
              <a:gd name="adj" fmla="val 2731"/>
            </a:avLst>
          </a:prstGeom>
          <a:solidFill>
            <a:srgbClr val="FFFFFF"/>
          </a:solidFill>
          <a:ln w="10160">
            <a:solidFill>
              <a:srgbClr val="DB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ab04_Presentation/image/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107" y="1929384"/>
            <a:ext cx="4740531" cy="3712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4984" y="5742432"/>
            <a:ext cx="6208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джиттера NETEM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7644384" y="1828800"/>
            <a:ext cx="3785616" cy="685800"/>
          </a:xfrm>
          <a:prstGeom prst="roundRect">
            <a:avLst>
              <a:gd name="adj" fmla="val 17333"/>
            </a:avLst>
          </a:prstGeom>
          <a:solidFill>
            <a:srgbClr val="EAF2F5"/>
          </a:solidFill>
          <a:ln w="10160">
            <a:solidFill>
              <a:srgbClr val="EAF2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81544" y="1929384"/>
            <a:ext cx="17320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1480" dirty="0"/>
          </a:p>
        </p:txBody>
      </p:sp>
      <p:sp>
        <p:nvSpPr>
          <p:cNvPr id="10" name="Text 7"/>
          <p:cNvSpPr/>
          <p:nvPr/>
        </p:nvSpPr>
        <p:spPr>
          <a:xfrm>
            <a:off x="9787920" y="1929384"/>
            <a:ext cx="1504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</a:t>
            </a:r>
            <a:endParaRPr lang="en-US" sz="1480" dirty="0"/>
          </a:p>
        </p:txBody>
      </p:sp>
      <p:sp>
        <p:nvSpPr>
          <p:cNvPr id="11" name="Text 8"/>
          <p:cNvSpPr/>
          <p:nvPr/>
        </p:nvSpPr>
        <p:spPr>
          <a:xfrm>
            <a:off x="7772400" y="2560320"/>
            <a:ext cx="1759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Средний RTT</a:t>
            </a:r>
            <a:endParaRPr lang="en-US" sz="1480" dirty="0"/>
          </a:p>
        </p:txBody>
      </p:sp>
      <p:sp>
        <p:nvSpPr>
          <p:cNvPr id="12" name="Text 9"/>
          <p:cNvSpPr/>
          <p:nvPr/>
        </p:nvSpPr>
        <p:spPr>
          <a:xfrm>
            <a:off x="9778776" y="2560320"/>
            <a:ext cx="153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107.499 мс</a:t>
            </a:r>
            <a:endParaRPr lang="en-US" sz="1480" dirty="0"/>
          </a:p>
        </p:txBody>
      </p:sp>
      <p:sp>
        <p:nvSpPr>
          <p:cNvPr id="13" name="Shape 10"/>
          <p:cNvSpPr/>
          <p:nvPr/>
        </p:nvSpPr>
        <p:spPr>
          <a:xfrm>
            <a:off x="7644384" y="3154680"/>
            <a:ext cx="3785616" cy="640080"/>
          </a:xfrm>
          <a:prstGeom prst="rect">
            <a:avLst/>
          </a:prstGeom>
          <a:solidFill>
            <a:srgbClr val="F2F7F8"/>
          </a:solidFill>
          <a:ln w="12700">
            <a:solidFill>
              <a:srgbClr val="F2F7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0" y="3200400"/>
            <a:ext cx="1759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Мин. / макс.</a:t>
            </a:r>
            <a:endParaRPr lang="en-US" sz="1480" dirty="0"/>
          </a:p>
        </p:txBody>
      </p:sp>
      <p:sp>
        <p:nvSpPr>
          <p:cNvPr id="15" name="Text 12"/>
          <p:cNvSpPr/>
          <p:nvPr/>
        </p:nvSpPr>
        <p:spPr>
          <a:xfrm>
            <a:off x="9778776" y="3200400"/>
            <a:ext cx="153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91.7 / 227 мс</a:t>
            </a:r>
            <a:endParaRPr lang="en-US" sz="1480" dirty="0"/>
          </a:p>
        </p:txBody>
      </p:sp>
      <p:sp>
        <p:nvSpPr>
          <p:cNvPr id="16" name="Text 13"/>
          <p:cNvSpPr/>
          <p:nvPr/>
        </p:nvSpPr>
        <p:spPr>
          <a:xfrm>
            <a:off x="7772400" y="3840480"/>
            <a:ext cx="1759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Ст. отклонение</a:t>
            </a:r>
            <a:endParaRPr lang="en-US" sz="1480" dirty="0"/>
          </a:p>
        </p:txBody>
      </p:sp>
      <p:sp>
        <p:nvSpPr>
          <p:cNvPr id="17" name="Text 14"/>
          <p:cNvSpPr/>
          <p:nvPr/>
        </p:nvSpPr>
        <p:spPr>
          <a:xfrm>
            <a:off x="9778776" y="3840480"/>
            <a:ext cx="153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16.206 мс</a:t>
            </a:r>
            <a:endParaRPr lang="en-US" sz="1480" dirty="0"/>
          </a:p>
        </p:txBody>
      </p:sp>
      <p:sp>
        <p:nvSpPr>
          <p:cNvPr id="18" name="Shape 15"/>
          <p:cNvSpPr/>
          <p:nvPr/>
        </p:nvSpPr>
        <p:spPr>
          <a:xfrm>
            <a:off x="7644384" y="4782312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900416" y="4636008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h1 задано delay 100ms 10ms.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7644384" y="5266944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900416" y="5120640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Проведено 100 измерений RTT.</a:t>
            </a:r>
            <a:endParaRPr lang="en-US" sz="1280" dirty="0"/>
          </a:p>
        </p:txBody>
      </p:sp>
      <p:sp>
        <p:nvSpPr>
          <p:cNvPr id="22" name="Shape 19"/>
          <p:cNvSpPr/>
          <p:nvPr/>
        </p:nvSpPr>
        <p:spPr>
          <a:xfrm>
            <a:off x="7644384" y="5751576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900416" y="5605272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Большинство значений сгруппировано около 100 мс; заметны отдельные пики.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92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correlation-delay: корреляция 25 %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1417320"/>
            <a:ext cx="10881360" cy="0"/>
          </a:xfrm>
          <a:prstGeom prst="line">
            <a:avLst/>
          </a:prstGeom>
          <a:noFill/>
          <a:ln w="28575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2104" y="1773936"/>
            <a:ext cx="6574536" cy="4352544"/>
          </a:xfrm>
          <a:prstGeom prst="roundRect">
            <a:avLst>
              <a:gd name="adj" fmla="val 2731"/>
            </a:avLst>
          </a:prstGeom>
          <a:solidFill>
            <a:srgbClr val="FFFFFF"/>
          </a:solidFill>
          <a:ln w="10160">
            <a:solidFill>
              <a:srgbClr val="DB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ab04_Presentation/image/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402" y="1929384"/>
            <a:ext cx="4705940" cy="3712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4984" y="5742432"/>
            <a:ext cx="6208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 RTT при корреляции задержек 25 процентов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7644384" y="1828800"/>
            <a:ext cx="3785616" cy="685800"/>
          </a:xfrm>
          <a:prstGeom prst="roundRect">
            <a:avLst>
              <a:gd name="adj" fmla="val 17333"/>
            </a:avLst>
          </a:prstGeom>
          <a:solidFill>
            <a:srgbClr val="EAF2F5"/>
          </a:solidFill>
          <a:ln w="10160">
            <a:solidFill>
              <a:srgbClr val="EAF2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81544" y="1929384"/>
            <a:ext cx="17320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1480" dirty="0"/>
          </a:p>
        </p:txBody>
      </p:sp>
      <p:sp>
        <p:nvSpPr>
          <p:cNvPr id="10" name="Text 7"/>
          <p:cNvSpPr/>
          <p:nvPr/>
        </p:nvSpPr>
        <p:spPr>
          <a:xfrm>
            <a:off x="9787920" y="1929384"/>
            <a:ext cx="1504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</a:t>
            </a:r>
            <a:endParaRPr lang="en-US" sz="1480" dirty="0"/>
          </a:p>
        </p:txBody>
      </p:sp>
      <p:sp>
        <p:nvSpPr>
          <p:cNvPr id="11" name="Text 8"/>
          <p:cNvSpPr/>
          <p:nvPr/>
        </p:nvSpPr>
        <p:spPr>
          <a:xfrm>
            <a:off x="7772400" y="2560320"/>
            <a:ext cx="1759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Средний RTT</a:t>
            </a:r>
            <a:endParaRPr lang="en-US" sz="1480" dirty="0"/>
          </a:p>
        </p:txBody>
      </p:sp>
      <p:sp>
        <p:nvSpPr>
          <p:cNvPr id="12" name="Text 9"/>
          <p:cNvSpPr/>
          <p:nvPr/>
        </p:nvSpPr>
        <p:spPr>
          <a:xfrm>
            <a:off x="9778776" y="2560320"/>
            <a:ext cx="153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108.485 мс</a:t>
            </a:r>
            <a:endParaRPr lang="en-US" sz="1480" dirty="0"/>
          </a:p>
        </p:txBody>
      </p:sp>
      <p:sp>
        <p:nvSpPr>
          <p:cNvPr id="13" name="Shape 10"/>
          <p:cNvSpPr/>
          <p:nvPr/>
        </p:nvSpPr>
        <p:spPr>
          <a:xfrm>
            <a:off x="7644384" y="3154680"/>
            <a:ext cx="3785616" cy="640080"/>
          </a:xfrm>
          <a:prstGeom prst="rect">
            <a:avLst/>
          </a:prstGeom>
          <a:solidFill>
            <a:srgbClr val="F2F7F8"/>
          </a:solidFill>
          <a:ln w="12700">
            <a:solidFill>
              <a:srgbClr val="F2F7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0" y="3200400"/>
            <a:ext cx="1759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Мин. / макс.</a:t>
            </a:r>
            <a:endParaRPr lang="en-US" sz="1480" dirty="0"/>
          </a:p>
        </p:txBody>
      </p:sp>
      <p:sp>
        <p:nvSpPr>
          <p:cNvPr id="15" name="Text 12"/>
          <p:cNvSpPr/>
          <p:nvPr/>
        </p:nvSpPr>
        <p:spPr>
          <a:xfrm>
            <a:off x="9778776" y="3200400"/>
            <a:ext cx="153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90.8 / 243 мс</a:t>
            </a:r>
            <a:endParaRPr lang="en-US" sz="1480" dirty="0"/>
          </a:p>
        </p:txBody>
      </p:sp>
      <p:sp>
        <p:nvSpPr>
          <p:cNvPr id="16" name="Text 13"/>
          <p:cNvSpPr/>
          <p:nvPr/>
        </p:nvSpPr>
        <p:spPr>
          <a:xfrm>
            <a:off x="7772400" y="3840480"/>
            <a:ext cx="1759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Ст. отклонение</a:t>
            </a:r>
            <a:endParaRPr lang="en-US" sz="1480" dirty="0"/>
          </a:p>
        </p:txBody>
      </p:sp>
      <p:sp>
        <p:nvSpPr>
          <p:cNvPr id="17" name="Text 14"/>
          <p:cNvSpPr/>
          <p:nvPr/>
        </p:nvSpPr>
        <p:spPr>
          <a:xfrm>
            <a:off x="9778776" y="3840480"/>
            <a:ext cx="153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19.297 мс</a:t>
            </a:r>
            <a:endParaRPr lang="en-US" sz="1480" dirty="0"/>
          </a:p>
        </p:txBody>
      </p:sp>
      <p:sp>
        <p:nvSpPr>
          <p:cNvPr id="18" name="Shape 15"/>
          <p:cNvSpPr/>
          <p:nvPr/>
        </p:nvSpPr>
        <p:spPr>
          <a:xfrm>
            <a:off x="7644384" y="4782312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900416" y="4636008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Заданы delay 100ms 10ms 25% на h1.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7644384" y="5266944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900416" y="5120640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Проведено 100 измерений RTT.</a:t>
            </a:r>
            <a:endParaRPr lang="en-US" sz="1280" dirty="0"/>
          </a:p>
        </p:txBody>
      </p:sp>
      <p:sp>
        <p:nvSpPr>
          <p:cNvPr id="22" name="Shape 19"/>
          <p:cNvSpPr/>
          <p:nvPr/>
        </p:nvSpPr>
        <p:spPr>
          <a:xfrm>
            <a:off x="7644384" y="5751576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900416" y="5605272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одному графику нельзя подтвердить точную фактическую корреляцию.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92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distribution-delay: нормальное распределение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1417320"/>
            <a:ext cx="10881360" cy="0"/>
          </a:xfrm>
          <a:prstGeom prst="line">
            <a:avLst/>
          </a:prstGeom>
          <a:noFill/>
          <a:ln w="28575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2104" y="1773936"/>
            <a:ext cx="6574536" cy="4352544"/>
          </a:xfrm>
          <a:prstGeom prst="roundRect">
            <a:avLst>
              <a:gd name="adj" fmla="val 2731"/>
            </a:avLst>
          </a:prstGeom>
          <a:solidFill>
            <a:srgbClr val="FFFFFF"/>
          </a:solidFill>
          <a:ln w="10160">
            <a:solidFill>
              <a:srgbClr val="DB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ab04_Presentation/image/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084" y="1929384"/>
            <a:ext cx="4786576" cy="3712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4984" y="5742432"/>
            <a:ext cx="6208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 RTT при нормальном распределении задержки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7644384" y="1828800"/>
            <a:ext cx="3785616" cy="685800"/>
          </a:xfrm>
          <a:prstGeom prst="roundRect">
            <a:avLst>
              <a:gd name="adj" fmla="val 17333"/>
            </a:avLst>
          </a:prstGeom>
          <a:solidFill>
            <a:srgbClr val="EAF2F5"/>
          </a:solidFill>
          <a:ln w="10160">
            <a:solidFill>
              <a:srgbClr val="EAF2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81544" y="1929384"/>
            <a:ext cx="17320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1480" dirty="0"/>
          </a:p>
        </p:txBody>
      </p:sp>
      <p:sp>
        <p:nvSpPr>
          <p:cNvPr id="10" name="Text 7"/>
          <p:cNvSpPr/>
          <p:nvPr/>
        </p:nvSpPr>
        <p:spPr>
          <a:xfrm>
            <a:off x="9787920" y="1929384"/>
            <a:ext cx="1504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</a:t>
            </a:r>
            <a:endParaRPr lang="en-US" sz="1480" dirty="0"/>
          </a:p>
        </p:txBody>
      </p:sp>
      <p:sp>
        <p:nvSpPr>
          <p:cNvPr id="11" name="Text 8"/>
          <p:cNvSpPr/>
          <p:nvPr/>
        </p:nvSpPr>
        <p:spPr>
          <a:xfrm>
            <a:off x="7772400" y="2560320"/>
            <a:ext cx="1759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Средний RTT</a:t>
            </a:r>
            <a:endParaRPr lang="en-US" sz="1480" dirty="0"/>
          </a:p>
        </p:txBody>
      </p:sp>
      <p:sp>
        <p:nvSpPr>
          <p:cNvPr id="12" name="Text 9"/>
          <p:cNvSpPr/>
          <p:nvPr/>
        </p:nvSpPr>
        <p:spPr>
          <a:xfrm>
            <a:off x="9778776" y="2560320"/>
            <a:ext cx="153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107.960 мс</a:t>
            </a:r>
            <a:endParaRPr lang="en-US" sz="1480" dirty="0"/>
          </a:p>
        </p:txBody>
      </p:sp>
      <p:sp>
        <p:nvSpPr>
          <p:cNvPr id="13" name="Shape 10"/>
          <p:cNvSpPr/>
          <p:nvPr/>
        </p:nvSpPr>
        <p:spPr>
          <a:xfrm>
            <a:off x="7644384" y="3154680"/>
            <a:ext cx="3785616" cy="640080"/>
          </a:xfrm>
          <a:prstGeom prst="rect">
            <a:avLst/>
          </a:prstGeom>
          <a:solidFill>
            <a:srgbClr val="F2F7F8"/>
          </a:solidFill>
          <a:ln w="12700">
            <a:solidFill>
              <a:srgbClr val="F2F7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0" y="3200400"/>
            <a:ext cx="1759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Мин. / макс.</a:t>
            </a:r>
            <a:endParaRPr lang="en-US" sz="1480" dirty="0"/>
          </a:p>
        </p:txBody>
      </p:sp>
      <p:sp>
        <p:nvSpPr>
          <p:cNvPr id="15" name="Text 12"/>
          <p:cNvSpPr/>
          <p:nvPr/>
        </p:nvSpPr>
        <p:spPr>
          <a:xfrm>
            <a:off x="9778776" y="3200400"/>
            <a:ext cx="153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49.9 / 188 мс</a:t>
            </a:r>
            <a:endParaRPr lang="en-US" sz="1480" dirty="0"/>
          </a:p>
        </p:txBody>
      </p:sp>
      <p:sp>
        <p:nvSpPr>
          <p:cNvPr id="16" name="Text 13"/>
          <p:cNvSpPr/>
          <p:nvPr/>
        </p:nvSpPr>
        <p:spPr>
          <a:xfrm>
            <a:off x="7772400" y="3840480"/>
            <a:ext cx="1759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Ст. отклонение</a:t>
            </a:r>
            <a:endParaRPr lang="en-US" sz="1480" dirty="0"/>
          </a:p>
        </p:txBody>
      </p:sp>
      <p:sp>
        <p:nvSpPr>
          <p:cNvPr id="17" name="Text 14"/>
          <p:cNvSpPr/>
          <p:nvPr/>
        </p:nvSpPr>
        <p:spPr>
          <a:xfrm>
            <a:off x="9778776" y="3840480"/>
            <a:ext cx="153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56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23.490 мс</a:t>
            </a:r>
            <a:endParaRPr lang="en-US" sz="1480" dirty="0"/>
          </a:p>
        </p:txBody>
      </p:sp>
      <p:sp>
        <p:nvSpPr>
          <p:cNvPr id="18" name="Shape 15"/>
          <p:cNvSpPr/>
          <p:nvPr/>
        </p:nvSpPr>
        <p:spPr>
          <a:xfrm>
            <a:off x="7644384" y="4782312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900416" y="4636008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Использована настройка delay 100ms 20ms distribution normal.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7644384" y="5266944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900416" y="5120640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Проведено 100 измерений RTT.</a:t>
            </a:r>
            <a:endParaRPr lang="en-US" sz="1280" dirty="0"/>
          </a:p>
        </p:txBody>
      </p:sp>
      <p:sp>
        <p:nvSpPr>
          <p:cNvPr id="22" name="Shape 19"/>
          <p:cNvSpPr/>
          <p:nvPr/>
        </p:nvSpPr>
        <p:spPr>
          <a:xfrm>
            <a:off x="7644384" y="5751576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900416" y="5605272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Наблюдаются отклонения RTT как выше, так и ниже базовых 100 мс.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92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Сопоставление разброса RTT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1417320"/>
            <a:ext cx="10881360" cy="0"/>
          </a:xfrm>
          <a:prstGeom prst="line">
            <a:avLst/>
          </a:prstGeom>
          <a:noFill/>
          <a:ln w="28575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" y="197510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7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jitter-delay</a:t>
            </a:r>
            <a:endParaRPr lang="en-US" sz="1770" dirty="0"/>
          </a:p>
        </p:txBody>
      </p:sp>
      <p:sp>
        <p:nvSpPr>
          <p:cNvPr id="6" name="Shape 4"/>
          <p:cNvSpPr/>
          <p:nvPr/>
        </p:nvSpPr>
        <p:spPr>
          <a:xfrm>
            <a:off x="3904488" y="1975104"/>
            <a:ext cx="6400800" cy="329184"/>
          </a:xfrm>
          <a:prstGeom prst="roundRect">
            <a:avLst>
              <a:gd name="adj" fmla="val 36111"/>
            </a:avLst>
          </a:prstGeom>
          <a:solidFill>
            <a:srgbClr val="E5EEF1"/>
          </a:solidFill>
          <a:ln w="10160">
            <a:solidFill>
              <a:srgbClr val="E5EE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904488" y="1975104"/>
            <a:ext cx="4415980" cy="329184"/>
          </a:xfrm>
          <a:prstGeom prst="roundRect">
            <a:avLst>
              <a:gd name="adj" fmla="val 36111"/>
            </a:avLst>
          </a:prstGeom>
          <a:solidFill>
            <a:srgbClr val="009E96"/>
          </a:solidFill>
          <a:ln w="1016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88168" y="1947672"/>
            <a:ext cx="987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16,206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3816" y="279806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7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correlation-delay</a:t>
            </a:r>
            <a:endParaRPr lang="en-US" sz="1770" dirty="0"/>
          </a:p>
        </p:txBody>
      </p:sp>
      <p:sp>
        <p:nvSpPr>
          <p:cNvPr id="10" name="Shape 8"/>
          <p:cNvSpPr/>
          <p:nvPr/>
        </p:nvSpPr>
        <p:spPr>
          <a:xfrm>
            <a:off x="3904488" y="2798064"/>
            <a:ext cx="6400800" cy="329184"/>
          </a:xfrm>
          <a:prstGeom prst="roundRect">
            <a:avLst>
              <a:gd name="adj" fmla="val 36111"/>
            </a:avLst>
          </a:prstGeom>
          <a:solidFill>
            <a:srgbClr val="E5EEF1"/>
          </a:solidFill>
          <a:ln w="10160">
            <a:solidFill>
              <a:srgbClr val="E5EE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04488" y="2798064"/>
            <a:ext cx="5258248" cy="329184"/>
          </a:xfrm>
          <a:prstGeom prst="roundRect">
            <a:avLst>
              <a:gd name="adj" fmla="val 36111"/>
            </a:avLst>
          </a:prstGeom>
          <a:solidFill>
            <a:srgbClr val="256D91"/>
          </a:solidFill>
          <a:ln w="10160">
            <a:solidFill>
              <a:srgbClr val="256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88168" y="2770632"/>
            <a:ext cx="987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19,297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3816" y="362102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7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distribution-delay</a:t>
            </a:r>
            <a:endParaRPr lang="en-US" sz="1770" dirty="0"/>
          </a:p>
        </p:txBody>
      </p:sp>
      <p:sp>
        <p:nvSpPr>
          <p:cNvPr id="14" name="Shape 12"/>
          <p:cNvSpPr/>
          <p:nvPr/>
        </p:nvSpPr>
        <p:spPr>
          <a:xfrm>
            <a:off x="3904488" y="3621024"/>
            <a:ext cx="6400800" cy="329184"/>
          </a:xfrm>
          <a:prstGeom prst="roundRect">
            <a:avLst>
              <a:gd name="adj" fmla="val 36111"/>
            </a:avLst>
          </a:prstGeom>
          <a:solidFill>
            <a:srgbClr val="E5EEF1"/>
          </a:solidFill>
          <a:ln w="10160">
            <a:solidFill>
              <a:srgbClr val="E5EE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904488" y="3621024"/>
            <a:ext cx="6400800" cy="329184"/>
          </a:xfrm>
          <a:prstGeom prst="roundRect">
            <a:avLst>
              <a:gd name="adj" fmla="val 36111"/>
            </a:avLst>
          </a:prstGeom>
          <a:solidFill>
            <a:srgbClr val="009E96"/>
          </a:solidFill>
          <a:ln w="1016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88168" y="3593592"/>
            <a:ext cx="987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23,49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68680" y="5596128"/>
            <a:ext cx="10515600" cy="640080"/>
          </a:xfrm>
          <a:prstGeom prst="roundRect">
            <a:avLst>
              <a:gd name="adj" fmla="val 18571"/>
            </a:avLst>
          </a:prstGeom>
          <a:solidFill>
            <a:srgbClr val="E8F5F2"/>
          </a:solidFill>
          <a:ln w="10160">
            <a:solidFill>
              <a:srgbClr val="E8F5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8680" y="5596128"/>
            <a:ext cx="59436" cy="640080"/>
          </a:xfrm>
          <a:prstGeom prst="rect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88136" y="5687568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20" i="1" dirty="0">
                <a:solidFill>
                  <a:srgbClr val="0E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этих конкретных сериях большее стандартное отклонение получено при нормальном распределении. Это наблюдение, а не доказательство закона распределения.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01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92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Повторяемость эксперимента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1417320"/>
            <a:ext cx="10881360" cy="0"/>
          </a:xfrm>
          <a:prstGeom prst="line">
            <a:avLst/>
          </a:prstGeom>
          <a:noFill/>
          <a:ln w="28575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1892808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2416" y="1746504"/>
            <a:ext cx="5404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2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независимых каталогов: simple-delay, change-delay, jitter-delay, correlation-delay, distribution-delay.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6384" y="2852928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2416" y="2706624"/>
            <a:ext cx="5404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2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каждом: Python-скрипт, Makefile, данные RTT, график PNG и статистика.</a:t>
            </a:r>
            <a:endParaRPr lang="en-US" sz="1820" dirty="0"/>
          </a:p>
        </p:txBody>
      </p:sp>
      <p:sp>
        <p:nvSpPr>
          <p:cNvPr id="9" name="Shape 7"/>
          <p:cNvSpPr/>
          <p:nvPr/>
        </p:nvSpPr>
        <p:spPr>
          <a:xfrm>
            <a:off x="786384" y="3813048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2416" y="3666744"/>
            <a:ext cx="5404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2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запускает измерение и строит результаты; make clean очищает производные файлы.</a:t>
            </a:r>
            <a:endParaRPr lang="en-US" sz="1820" dirty="0"/>
          </a:p>
        </p:txBody>
      </p:sp>
      <p:sp>
        <p:nvSpPr>
          <p:cNvPr id="11" name="Shape 9"/>
          <p:cNvSpPr/>
          <p:nvPr/>
        </p:nvSpPr>
        <p:spPr>
          <a:xfrm>
            <a:off x="786384" y="4773168"/>
            <a:ext cx="105156" cy="105156"/>
          </a:xfrm>
          <a:prstGeom prst="ellipse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2416" y="4626864"/>
            <a:ext cx="5404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20" dirty="0">
                <a:solidFill>
                  <a:srgbClr val="16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Исходный проект размещён в labs/lab04/project.</a:t>
            </a:r>
            <a:endParaRPr lang="en-US" sz="1820" dirty="0"/>
          </a:p>
        </p:txBody>
      </p:sp>
      <p:sp>
        <p:nvSpPr>
          <p:cNvPr id="13" name="Shape 11"/>
          <p:cNvSpPr/>
          <p:nvPr/>
        </p:nvSpPr>
        <p:spPr>
          <a:xfrm>
            <a:off x="6592824" y="1801368"/>
            <a:ext cx="4791456" cy="4315968"/>
          </a:xfrm>
          <a:prstGeom prst="roundRect">
            <a:avLst>
              <a:gd name="adj" fmla="val 2754"/>
            </a:avLst>
          </a:prstGeom>
          <a:solidFill>
            <a:srgbClr val="FFFFFF"/>
          </a:solidFill>
          <a:ln w="10160">
            <a:solidFill>
              <a:srgbClr val="DB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/mnt/data/Lab04_Presentation/image/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191229"/>
            <a:ext cx="4517136" cy="320706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775704" y="5733288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Повторный успешный запуск simple-delay командой make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484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7512" y="932688"/>
            <a:ext cx="10698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выводы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67512" y="1673352"/>
            <a:ext cx="10789920" cy="0"/>
          </a:xfrm>
          <a:prstGeom prst="line">
            <a:avLst/>
          </a:prstGeom>
          <a:noFill/>
          <a:ln w="25400">
            <a:solidFill>
              <a:srgbClr val="009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892808"/>
            <a:ext cx="10744200" cy="685800"/>
          </a:xfrm>
          <a:prstGeom prst="roundRect">
            <a:avLst>
              <a:gd name="adj" fmla="val 17333"/>
            </a:avLst>
          </a:prstGeom>
          <a:solidFill>
            <a:srgbClr val="15384B"/>
          </a:solidFill>
          <a:ln w="10160">
            <a:solidFill>
              <a:srgbClr val="153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075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72768" y="1956816"/>
            <a:ext cx="9601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40" dirty="0">
                <a:solidFill>
                  <a:srgbClr val="F3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NETEM позволяет воспроизводимо моделировать задержку и её изменчивость.</a:t>
            </a:r>
            <a:endParaRPr lang="en-US" sz="1940" dirty="0"/>
          </a:p>
        </p:txBody>
      </p:sp>
      <p:sp>
        <p:nvSpPr>
          <p:cNvPr id="8" name="Shape 6"/>
          <p:cNvSpPr/>
          <p:nvPr/>
        </p:nvSpPr>
        <p:spPr>
          <a:xfrm>
            <a:off x="713232" y="2724912"/>
            <a:ext cx="10744200" cy="685800"/>
          </a:xfrm>
          <a:prstGeom prst="roundRect">
            <a:avLst>
              <a:gd name="adj" fmla="val 17333"/>
            </a:avLst>
          </a:prstGeom>
          <a:solidFill>
            <a:srgbClr val="15384B"/>
          </a:solidFill>
          <a:ln w="10160">
            <a:solidFill>
              <a:srgbClr val="153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077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72768" y="2788920"/>
            <a:ext cx="9601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40" dirty="0">
                <a:solidFill>
                  <a:srgbClr val="F3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ограничения по 100 мс дали средний RTT 205,462 мс; без NETEM — 0,442 мс.</a:t>
            </a:r>
            <a:endParaRPr lang="en-US" sz="1940" dirty="0"/>
          </a:p>
        </p:txBody>
      </p:sp>
      <p:sp>
        <p:nvSpPr>
          <p:cNvPr id="11" name="Shape 9"/>
          <p:cNvSpPr/>
          <p:nvPr/>
        </p:nvSpPr>
        <p:spPr>
          <a:xfrm>
            <a:off x="713232" y="3557016"/>
            <a:ext cx="10744200" cy="685800"/>
          </a:xfrm>
          <a:prstGeom prst="roundRect">
            <a:avLst>
              <a:gd name="adj" fmla="val 17333"/>
            </a:avLst>
          </a:prstGeom>
          <a:solidFill>
            <a:srgbClr val="15384B"/>
          </a:solidFill>
          <a:ln w="10160">
            <a:solidFill>
              <a:srgbClr val="153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739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72768" y="3621024"/>
            <a:ext cx="9601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40" dirty="0">
                <a:solidFill>
                  <a:srgbClr val="F3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Уменьшение задержки до 50 мс на хост снизило средний RTT в автоматическом опыте примерно вдвое.</a:t>
            </a:r>
            <a:endParaRPr lang="en-US" sz="1940" dirty="0"/>
          </a:p>
        </p:txBody>
      </p:sp>
      <p:sp>
        <p:nvSpPr>
          <p:cNvPr id="14" name="Shape 12"/>
          <p:cNvSpPr/>
          <p:nvPr/>
        </p:nvSpPr>
        <p:spPr>
          <a:xfrm>
            <a:off x="713232" y="4389120"/>
            <a:ext cx="10744200" cy="685800"/>
          </a:xfrm>
          <a:prstGeom prst="roundRect">
            <a:avLst>
              <a:gd name="adj" fmla="val 17333"/>
            </a:avLst>
          </a:prstGeom>
          <a:solidFill>
            <a:srgbClr val="15384B"/>
          </a:solidFill>
          <a:ln w="10160">
            <a:solidFill>
              <a:srgbClr val="153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72768" y="4453128"/>
            <a:ext cx="9601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40" dirty="0">
                <a:solidFill>
                  <a:srgbClr val="F3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Python, GNU Make и Gnuplot обеспечили повторяемость измерений и сохранение результатов.</a:t>
            </a:r>
            <a:endParaRPr lang="en-US" sz="1940" dirty="0"/>
          </a:p>
        </p:txBody>
      </p:sp>
      <p:sp>
        <p:nvSpPr>
          <p:cNvPr id="17" name="Shape 15"/>
          <p:cNvSpPr/>
          <p:nvPr/>
        </p:nvSpPr>
        <p:spPr>
          <a:xfrm>
            <a:off x="758952" y="5577840"/>
            <a:ext cx="10698480" cy="859536"/>
          </a:xfrm>
          <a:prstGeom prst="roundRect">
            <a:avLst>
              <a:gd name="adj" fmla="val 13830"/>
            </a:avLst>
          </a:prstGeom>
          <a:solidFill>
            <a:srgbClr val="163F4A"/>
          </a:solidFill>
          <a:ln w="10160">
            <a:solidFill>
              <a:srgbClr val="163F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8952" y="5577840"/>
            <a:ext cx="59436" cy="859536"/>
          </a:xfrm>
          <a:prstGeom prst="rect">
            <a:avLst/>
          </a:prstGeom>
          <a:solidFill>
            <a:srgbClr val="009E96"/>
          </a:solidFill>
          <a:ln w="12700">
            <a:solidFill>
              <a:srgbClr val="009E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78408" y="5669280"/>
            <a:ext cx="10287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Главный результат: настроенная задержка проявляется в измеренном RTT, а автоматизация делает эксперимент проверяемым и повторяемым.</a:t>
            </a:r>
            <a:endParaRPr lang="en-US" sz="1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825</Words>
  <Application>Microsoft Office PowerPoint</Application>
  <PresentationFormat>Widescreen</PresentationFormat>
  <Paragraphs>197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Liberation Mono</vt:lpstr>
      <vt:lpstr>Neue Haas Grotesk Text Pro</vt:lpstr>
      <vt:lpstr>System Font Regular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Лабораторная работа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№4: Эмуляция и измерение задержек в глобальных сетях</dc:title>
  <dc:subject>Лабораторная работа №4 — NETEM, Mininet и измерение RTT</dc:subject>
  <dc:creator>Авдадаев Джамал Геланиевич</dc:creator>
  <cp:lastModifiedBy>Djamal Avdadaev</cp:lastModifiedBy>
  <cp:revision>2</cp:revision>
  <dcterms:created xsi:type="dcterms:W3CDTF">2026-10-24T16:29:41Z</dcterms:created>
  <dcterms:modified xsi:type="dcterms:W3CDTF">2026-10-24T18:04:32Z</dcterms:modified>
</cp:coreProperties>
</file>